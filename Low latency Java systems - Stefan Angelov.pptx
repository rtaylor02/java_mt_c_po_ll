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Economica"/>
      <p:regular r:id="rId57"/>
      <p:bold r:id="rId58"/>
      <p:italic r:id="rId59"/>
      <p:boldItalic r:id="rId60"/>
    </p:embeddedFont>
    <p:embeddedFont>
      <p:font typeface="Proxima Nova"/>
      <p:regular r:id="rId61"/>
      <p:bold r:id="rId62"/>
      <p:italic r:id="rId63"/>
      <p:boldItalic r:id="rId64"/>
    </p:embeddedFont>
    <p:embeddedFont>
      <p:font typeface="Proxima Nova Semibold"/>
      <p:regular r:id="rId65"/>
      <p:bold r:id="rId66"/>
      <p:boldItalic r:id="rId67"/>
    </p:embeddedFont>
    <p:embeddedFont>
      <p:font typeface="Open Sans"/>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72" roundtripDataSignature="AMtx7miKuieyf6dUv9gP+rg3ErxW28gv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91BEBA-2AAA-4C2D-8CCD-B3C21EAB6E16}">
  <a:tblStyle styleId="{0B91BEBA-2AAA-4C2D-8CCD-B3C21EAB6E1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customschemas.google.com/relationships/presentationmetadata" Target="meta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penSans-boldItalic.fntdata"/><Relationship Id="rId70" Type="http://schemas.openxmlformats.org/officeDocument/2006/relationships/font" Target="fonts/OpenSans-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roximaNova-bold.fntdata"/><Relationship Id="rId61" Type="http://schemas.openxmlformats.org/officeDocument/2006/relationships/font" Target="fonts/ProximaNova-regular.fntdata"/><Relationship Id="rId20" Type="http://schemas.openxmlformats.org/officeDocument/2006/relationships/slide" Target="slides/slide14.xml"/><Relationship Id="rId64" Type="http://schemas.openxmlformats.org/officeDocument/2006/relationships/font" Target="fonts/ProximaNova-boldItalic.fntdata"/><Relationship Id="rId63" Type="http://schemas.openxmlformats.org/officeDocument/2006/relationships/font" Target="fonts/ProximaNova-italic.fntdata"/><Relationship Id="rId22" Type="http://schemas.openxmlformats.org/officeDocument/2006/relationships/slide" Target="slides/slide16.xml"/><Relationship Id="rId66" Type="http://schemas.openxmlformats.org/officeDocument/2006/relationships/font" Target="fonts/ProximaNovaSemibold-bold.fntdata"/><Relationship Id="rId21" Type="http://schemas.openxmlformats.org/officeDocument/2006/relationships/slide" Target="slides/slide15.xml"/><Relationship Id="rId65" Type="http://schemas.openxmlformats.org/officeDocument/2006/relationships/font" Target="fonts/ProximaNovaSemibold-regular.fntdata"/><Relationship Id="rId24" Type="http://schemas.openxmlformats.org/officeDocument/2006/relationships/slide" Target="slides/slide18.xml"/><Relationship Id="rId68" Type="http://schemas.openxmlformats.org/officeDocument/2006/relationships/font" Target="fonts/OpenSans-regular.fntdata"/><Relationship Id="rId23" Type="http://schemas.openxmlformats.org/officeDocument/2006/relationships/slide" Target="slides/slide17.xml"/><Relationship Id="rId67" Type="http://schemas.openxmlformats.org/officeDocument/2006/relationships/font" Target="fonts/ProximaNovaSemibold-boldItalic.fntdata"/><Relationship Id="rId60" Type="http://schemas.openxmlformats.org/officeDocument/2006/relationships/font" Target="fonts/Economica-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penSans-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Economica-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Economica-italic.fntdata"/><Relationship Id="rId14" Type="http://schemas.openxmlformats.org/officeDocument/2006/relationships/slide" Target="slides/slide8.xml"/><Relationship Id="rId58" Type="http://schemas.openxmlformats.org/officeDocument/2006/relationships/font" Target="fonts/Economica-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f54441cae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1f54441caea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e0ec7b56c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2e0ec7b56cf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e0ec7b56c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2e0ec7b56cf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e0ec7b56c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2e0ec7b56cf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e0ec7b56c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2e0ec7b56cf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e0ec7b56c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2e0ec7b56cf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0ec7b56c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2e0ec7b56cf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0ec7b56c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2e0ec7b56cf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e0ec7b56c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2e0ec7b56cf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e0ec7b56c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2e0ec7b56cf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e0ec7b56c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2e0ec7b56cf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e0ec7b56cf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2e0ec7b56cf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e0ec7b56c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2e0ec7b56cf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0ec7b56cf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2e0ec7b56cf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e0ec7b56cf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2e0ec7b56cf_0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0ec7b56cf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e0ec7b56cf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e0ec7b56cf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2e0ec7b56cf_0_2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e0ec7b56cf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2e0ec7b56cf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e0ec7b56cf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2e0ec7b56cf_0_2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e0ec7b56cf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2e0ec7b56cf_0_2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e0ec7b56cf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2e0ec7b56cf_0_2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e0ec7b56cf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2e0ec7b56cf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e0ec7b56cf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2e0ec7b56cf_0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e0ec7b56cf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2e0ec7b56cf_0_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e0ec7b56cf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2e0ec7b56cf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e0ec7b56cf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2e0ec7b56cf_0_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e0ec7b56cf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2e0ec7b56cf_0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e0ec7b56cf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2e0ec7b56cf_0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e0ec7b56cf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2e0ec7b56cf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e0ec7b56cf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2e0ec7b56cf_0_3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e0ec7b56cf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2e0ec7b56cf_0_3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e0ec7b56cf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2e0ec7b56cf_0_3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e0ec7b56cf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2e0ec7b56cf_0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e0ec7b56cf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2e0ec7b56cf_0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e0ec7b56cf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g2e0ec7b56cf_0_3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e0ec7b56cf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g2e0ec7b56cf_0_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e0ec7b56cf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2e0ec7b56cf_0_3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e0ec7b56cf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2e0ec7b56cf_0_3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e0ec7b56cf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2e0ec7b56cf_0_3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e0ec7b56cf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g2e0ec7b56cf_0_4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e0ec7b56cf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g2e0ec7b56cf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e0ec7b56cf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g2e0ec7b56cf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e0ec7b56cf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g2e0ec7b56cf_0_4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e0ec7b56cf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g2e0ec7b56cf_0_4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e0ec7b56cf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g2e0ec7b56cf_0_4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e0ec7b56cf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g2e0ec7b56cf_0_4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e0ec7b56cf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g2e0ec7b56cf_0_4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8"/>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18"/>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18"/>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13" name="Google Shape;13;p18"/>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19"/>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17" name="Google Shape;1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20"/>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0" name="Google Shape;20;p20"/>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1" name="Google Shape;21;p20"/>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22" name="Google Shape;22;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2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26" name="Google Shape;26;p2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2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0" name="Google Shape;30;p22"/>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2"/>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 name="Google Shape;35;p23"/>
          <p:cNvSpPr txBox="1"/>
          <p:nvPr>
            <p:ph idx="1" type="body"/>
          </p:nvPr>
        </p:nvSpPr>
        <p:spPr>
          <a:xfrm>
            <a:off x="311700" y="1399400"/>
            <a:ext cx="2808000" cy="27849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2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4"/>
          <p:cNvSpPr txBox="1"/>
          <p:nvPr>
            <p:ph type="title"/>
          </p:nvPr>
        </p:nvSpPr>
        <p:spPr>
          <a:xfrm>
            <a:off x="490250" y="450150"/>
            <a:ext cx="5878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25"/>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 name="Google Shape;43;p25"/>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25"/>
          <p:cNvSpPr txBox="1"/>
          <p:nvPr>
            <p:ph type="title"/>
          </p:nvPr>
        </p:nvSpPr>
        <p:spPr>
          <a:xfrm>
            <a:off x="265500" y="929275"/>
            <a:ext cx="4045200" cy="1786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p:txBody>
      </p:sp>
      <p:sp>
        <p:nvSpPr>
          <p:cNvPr id="45" name="Google Shape;45;p25"/>
          <p:cNvSpPr txBox="1"/>
          <p:nvPr>
            <p:ph idx="1" type="subTitle"/>
          </p:nvPr>
        </p:nvSpPr>
        <p:spPr>
          <a:xfrm>
            <a:off x="265500" y="2769001"/>
            <a:ext cx="4045200" cy="1574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25"/>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7" name="Google Shape;4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26"/>
          <p:cNvSpPr txBox="1"/>
          <p:nvPr>
            <p:ph idx="1" type="body"/>
          </p:nvPr>
        </p:nvSpPr>
        <p:spPr>
          <a:xfrm>
            <a:off x="319500" y="42189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27"/>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7"/>
          <p:cNvSpPr txBox="1"/>
          <p:nvPr>
            <p:ph hasCustomPrompt="1" type="title"/>
          </p:nvPr>
        </p:nvSpPr>
        <p:spPr>
          <a:xfrm>
            <a:off x="311700" y="957125"/>
            <a:ext cx="8520600" cy="21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4" name="Google Shape;54;p27"/>
          <p:cNvSpPr txBox="1"/>
          <p:nvPr>
            <p:ph idx="1" type="body"/>
          </p:nvPr>
        </p:nvSpPr>
        <p:spPr>
          <a:xfrm>
            <a:off x="311700" y="316200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Cover">
  <p:cSld name="BLANK_1">
    <p:bg>
      <p:bgPr>
        <a:blipFill>
          <a:blip r:embed="rId2">
            <a:alphaModFix/>
          </a:blip>
          <a:stretch>
            <a:fillRect/>
          </a:stretch>
        </a:blipFill>
      </p:bgPr>
    </p:bg>
    <p:spTree>
      <p:nvGrpSpPr>
        <p:cNvPr id="58" name="Shape 58"/>
        <p:cNvGrpSpPr/>
        <p:nvPr/>
      </p:nvGrpSpPr>
      <p:grpSpPr>
        <a:xfrm>
          <a:off x="0" y="0"/>
          <a:ext cx="0" cy="0"/>
          <a:chOff x="0" y="0"/>
          <a:chExt cx="0" cy="0"/>
        </a:xfrm>
      </p:grpSpPr>
      <p:sp>
        <p:nvSpPr>
          <p:cNvPr id="59" name="Google Shape;59;p29"/>
          <p:cNvSpPr txBox="1"/>
          <p:nvPr>
            <p:ph idx="12" type="sldNum"/>
          </p:nvPr>
        </p:nvSpPr>
        <p:spPr>
          <a:xfrm>
            <a:off x="8595308" y="4749892"/>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pic>
        <p:nvPicPr>
          <p:cNvPr id="60" name="Google Shape;60;p29"/>
          <p:cNvPicPr preferRelativeResize="0"/>
          <p:nvPr/>
        </p:nvPicPr>
        <p:blipFill rotWithShape="1">
          <a:blip r:embed="rId3">
            <a:alphaModFix/>
          </a:blip>
          <a:srcRect b="0" l="0" r="0" t="0"/>
          <a:stretch/>
        </p:blipFill>
        <p:spPr>
          <a:xfrm>
            <a:off x="3859225" y="1263287"/>
            <a:ext cx="1425550" cy="1751800"/>
          </a:xfrm>
          <a:prstGeom prst="rect">
            <a:avLst/>
          </a:prstGeom>
          <a:noFill/>
          <a:ln>
            <a:noFill/>
          </a:ln>
        </p:spPr>
      </p:pic>
      <p:sp>
        <p:nvSpPr>
          <p:cNvPr id="61" name="Google Shape;61;p29"/>
          <p:cNvSpPr txBox="1"/>
          <p:nvPr/>
        </p:nvSpPr>
        <p:spPr>
          <a:xfrm>
            <a:off x="3751375" y="4561724"/>
            <a:ext cx="1570800" cy="393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FFFFFF"/>
                </a:solidFill>
                <a:latin typeface="Proxima Nova"/>
                <a:ea typeface="Proxima Nova"/>
                <a:cs typeface="Proxima Nova"/>
                <a:sym typeface="Proxima Nova"/>
              </a:rPr>
              <a:t>nexo.io</a:t>
            </a:r>
            <a:endParaRPr b="0" i="0" sz="2000" u="none" cap="none" strike="noStrike">
              <a:solidFill>
                <a:srgbClr val="FFFFFF"/>
              </a:solidFill>
              <a:latin typeface="Proxima Nova"/>
              <a:ea typeface="Proxima Nova"/>
              <a:cs typeface="Proxima Nova"/>
              <a:sym typeface="Proxima Nova"/>
            </a:endParaRPr>
          </a:p>
        </p:txBody>
      </p:sp>
      <p:sp>
        <p:nvSpPr>
          <p:cNvPr id="62" name="Google Shape;62;p29"/>
          <p:cNvSpPr txBox="1"/>
          <p:nvPr>
            <p:ph type="title"/>
          </p:nvPr>
        </p:nvSpPr>
        <p:spPr>
          <a:xfrm>
            <a:off x="1637250" y="3100534"/>
            <a:ext cx="5869500" cy="1305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C9D4F6"/>
              </a:buClr>
              <a:buSzPts val="3500"/>
              <a:buNone/>
              <a:defRPr sz="3500">
                <a:solidFill>
                  <a:srgbClr val="C9D4F6"/>
                </a:solidFill>
                <a:latin typeface="Proxima Nova"/>
                <a:ea typeface="Proxima Nova"/>
                <a:cs typeface="Proxima Nova"/>
                <a:sym typeface="Proxima Nova"/>
              </a:defRPr>
            </a:lvl1pPr>
            <a:lvl2pPr lvl="1" algn="l">
              <a:lnSpc>
                <a:spcPct val="100000"/>
              </a:lnSpc>
              <a:spcBef>
                <a:spcPts val="0"/>
              </a:spcBef>
              <a:spcAft>
                <a:spcPts val="0"/>
              </a:spcAft>
              <a:buSzPts val="4200"/>
              <a:buNone/>
              <a:defRPr>
                <a:latin typeface="Proxima Nova"/>
                <a:ea typeface="Proxima Nova"/>
                <a:cs typeface="Proxima Nova"/>
                <a:sym typeface="Proxima Nova"/>
              </a:defRPr>
            </a:lvl2pPr>
            <a:lvl3pPr lvl="2" algn="l">
              <a:lnSpc>
                <a:spcPct val="100000"/>
              </a:lnSpc>
              <a:spcBef>
                <a:spcPts val="0"/>
              </a:spcBef>
              <a:spcAft>
                <a:spcPts val="0"/>
              </a:spcAft>
              <a:buSzPts val="4200"/>
              <a:buNone/>
              <a:defRPr>
                <a:latin typeface="Proxima Nova"/>
                <a:ea typeface="Proxima Nova"/>
                <a:cs typeface="Proxima Nova"/>
                <a:sym typeface="Proxima Nova"/>
              </a:defRPr>
            </a:lvl3pPr>
            <a:lvl4pPr lvl="3" algn="l">
              <a:lnSpc>
                <a:spcPct val="100000"/>
              </a:lnSpc>
              <a:spcBef>
                <a:spcPts val="0"/>
              </a:spcBef>
              <a:spcAft>
                <a:spcPts val="0"/>
              </a:spcAft>
              <a:buSzPts val="4200"/>
              <a:buNone/>
              <a:defRPr>
                <a:latin typeface="Proxima Nova"/>
                <a:ea typeface="Proxima Nova"/>
                <a:cs typeface="Proxima Nova"/>
                <a:sym typeface="Proxima Nova"/>
              </a:defRPr>
            </a:lvl4pPr>
            <a:lvl5pPr lvl="4" algn="l">
              <a:lnSpc>
                <a:spcPct val="100000"/>
              </a:lnSpc>
              <a:spcBef>
                <a:spcPts val="0"/>
              </a:spcBef>
              <a:spcAft>
                <a:spcPts val="0"/>
              </a:spcAft>
              <a:buSzPts val="4200"/>
              <a:buNone/>
              <a:defRPr>
                <a:latin typeface="Proxima Nova"/>
                <a:ea typeface="Proxima Nova"/>
                <a:cs typeface="Proxima Nova"/>
                <a:sym typeface="Proxima Nova"/>
              </a:defRPr>
            </a:lvl5pPr>
            <a:lvl6pPr lvl="5" algn="l">
              <a:lnSpc>
                <a:spcPct val="100000"/>
              </a:lnSpc>
              <a:spcBef>
                <a:spcPts val="0"/>
              </a:spcBef>
              <a:spcAft>
                <a:spcPts val="0"/>
              </a:spcAft>
              <a:buSzPts val="4200"/>
              <a:buNone/>
              <a:defRPr>
                <a:latin typeface="Proxima Nova"/>
                <a:ea typeface="Proxima Nova"/>
                <a:cs typeface="Proxima Nova"/>
                <a:sym typeface="Proxima Nova"/>
              </a:defRPr>
            </a:lvl6pPr>
            <a:lvl7pPr lvl="6" algn="l">
              <a:lnSpc>
                <a:spcPct val="100000"/>
              </a:lnSpc>
              <a:spcBef>
                <a:spcPts val="0"/>
              </a:spcBef>
              <a:spcAft>
                <a:spcPts val="0"/>
              </a:spcAft>
              <a:buSzPts val="4200"/>
              <a:buNone/>
              <a:defRPr>
                <a:latin typeface="Proxima Nova"/>
                <a:ea typeface="Proxima Nova"/>
                <a:cs typeface="Proxima Nova"/>
                <a:sym typeface="Proxima Nova"/>
              </a:defRPr>
            </a:lvl7pPr>
            <a:lvl8pPr lvl="7" algn="l">
              <a:lnSpc>
                <a:spcPct val="100000"/>
              </a:lnSpc>
              <a:spcBef>
                <a:spcPts val="0"/>
              </a:spcBef>
              <a:spcAft>
                <a:spcPts val="0"/>
              </a:spcAft>
              <a:buSzPts val="4200"/>
              <a:buNone/>
              <a:defRPr>
                <a:latin typeface="Proxima Nova"/>
                <a:ea typeface="Proxima Nova"/>
                <a:cs typeface="Proxima Nova"/>
                <a:sym typeface="Proxima Nova"/>
              </a:defRPr>
            </a:lvl8pPr>
            <a:lvl9pPr lvl="8" algn="l">
              <a:lnSpc>
                <a:spcPct val="100000"/>
              </a:lnSpc>
              <a:spcBef>
                <a:spcPts val="0"/>
              </a:spcBef>
              <a:spcAft>
                <a:spcPts val="0"/>
              </a:spcAft>
              <a:buSzPts val="4200"/>
              <a:buNone/>
              <a:defRPr>
                <a:latin typeface="Proxima Nova"/>
                <a:ea typeface="Proxima Nova"/>
                <a:cs typeface="Proxima Nova"/>
                <a:sym typeface="Proxima Nova"/>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and one column">
  <p:cSld name="TITLE_1">
    <p:bg>
      <p:bgPr>
        <a:blipFill>
          <a:blip r:embed="rId2">
            <a:alphaModFix/>
          </a:blip>
          <a:stretch>
            <a:fillRect/>
          </a:stretch>
        </a:blipFill>
      </p:bgPr>
    </p:bg>
    <p:spTree>
      <p:nvGrpSpPr>
        <p:cNvPr id="63" name="Shape 63"/>
        <p:cNvGrpSpPr/>
        <p:nvPr/>
      </p:nvGrpSpPr>
      <p:grpSpPr>
        <a:xfrm>
          <a:off x="0" y="0"/>
          <a:ext cx="0" cy="0"/>
          <a:chOff x="0" y="0"/>
          <a:chExt cx="0" cy="0"/>
        </a:xfrm>
      </p:grpSpPr>
      <p:sp>
        <p:nvSpPr>
          <p:cNvPr id="64" name="Google Shape;64;p30"/>
          <p:cNvSpPr txBox="1"/>
          <p:nvPr>
            <p:ph type="ctrTitle"/>
          </p:nvPr>
        </p:nvSpPr>
        <p:spPr>
          <a:xfrm>
            <a:off x="169500" y="433022"/>
            <a:ext cx="8520600" cy="458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Proxima Nova Semibold"/>
              <a:buNone/>
              <a:defRPr sz="2500">
                <a:latin typeface="Proxima Nova Semibold"/>
                <a:ea typeface="Proxima Nova Semibold"/>
                <a:cs typeface="Proxima Nova Semibold"/>
                <a:sym typeface="Proxima Nova Semibold"/>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5" name="Google Shape;65;p30"/>
          <p:cNvSpPr txBox="1"/>
          <p:nvPr>
            <p:ph idx="1" type="subTitle"/>
          </p:nvPr>
        </p:nvSpPr>
        <p:spPr>
          <a:xfrm>
            <a:off x="169500" y="860297"/>
            <a:ext cx="8520600" cy="338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252A2F"/>
              </a:buClr>
              <a:buSzPts val="1800"/>
              <a:buFont typeface="Proxima Nova"/>
              <a:buNone/>
              <a:defRPr sz="1800">
                <a:solidFill>
                  <a:srgbClr val="252A2F"/>
                </a:solidFill>
                <a:latin typeface="Proxima Nova"/>
                <a:ea typeface="Proxima Nova"/>
                <a:cs typeface="Proxima Nova"/>
                <a:sym typeface="Proxima Nova"/>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6" name="Google Shape;66;p30"/>
          <p:cNvSpPr txBox="1"/>
          <p:nvPr>
            <p:ph idx="12" type="sldNum"/>
          </p:nvPr>
        </p:nvSpPr>
        <p:spPr>
          <a:xfrm>
            <a:off x="8595308" y="4749892"/>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30"/>
          <p:cNvPicPr preferRelativeResize="0"/>
          <p:nvPr/>
        </p:nvPicPr>
        <p:blipFill rotWithShape="1">
          <a:blip r:embed="rId3">
            <a:alphaModFix/>
          </a:blip>
          <a:srcRect b="0" l="0" r="0" t="0"/>
          <a:stretch/>
        </p:blipFill>
        <p:spPr>
          <a:xfrm>
            <a:off x="317750" y="205850"/>
            <a:ext cx="925775" cy="221650"/>
          </a:xfrm>
          <a:prstGeom prst="rect">
            <a:avLst/>
          </a:prstGeom>
          <a:noFill/>
          <a:ln>
            <a:noFill/>
          </a:ln>
        </p:spPr>
      </p:pic>
      <p:sp>
        <p:nvSpPr>
          <p:cNvPr id="68" name="Google Shape;68;p30"/>
          <p:cNvSpPr/>
          <p:nvPr/>
        </p:nvSpPr>
        <p:spPr>
          <a:xfrm>
            <a:off x="-4450" y="205850"/>
            <a:ext cx="75900" cy="627600"/>
          </a:xfrm>
          <a:prstGeom prst="rect">
            <a:avLst/>
          </a:prstGeom>
          <a:solidFill>
            <a:srgbClr val="1E4D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0"/>
          <p:cNvSpPr txBox="1"/>
          <p:nvPr>
            <p:ph idx="2" type="body"/>
          </p:nvPr>
        </p:nvSpPr>
        <p:spPr>
          <a:xfrm>
            <a:off x="169500" y="1497600"/>
            <a:ext cx="5464200" cy="3468900"/>
          </a:xfrm>
          <a:prstGeom prst="rect">
            <a:avLst/>
          </a:prstGeom>
          <a:noFill/>
          <a:ln>
            <a:noFill/>
          </a:ln>
        </p:spPr>
        <p:txBody>
          <a:bodyPr anchorCtr="0" anchor="t" bIns="91425" lIns="91425" spcFirstLastPara="1" rIns="91425" wrap="square" tIns="91425">
            <a:normAutofit/>
          </a:bodyPr>
          <a:lstStyle>
            <a:lvl1pPr indent="-342900" lvl="0" marL="457200" algn="l">
              <a:lnSpc>
                <a:spcPct val="100000"/>
              </a:lnSpc>
              <a:spcBef>
                <a:spcPts val="0"/>
              </a:spcBef>
              <a:spcAft>
                <a:spcPts val="0"/>
              </a:spcAft>
              <a:buSzPts val="18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s - Dark">
  <p:cSld name="CUSTOM_1_1">
    <p:bg>
      <p:bgPr>
        <a:blipFill>
          <a:blip r:embed="rId2">
            <a:alphaModFix/>
          </a:blip>
          <a:stretch>
            <a:fillRect/>
          </a:stretch>
        </a:blipFill>
      </p:bgPr>
    </p:bg>
    <p:spTree>
      <p:nvGrpSpPr>
        <p:cNvPr id="70" name="Shape 70"/>
        <p:cNvGrpSpPr/>
        <p:nvPr/>
      </p:nvGrpSpPr>
      <p:grpSpPr>
        <a:xfrm>
          <a:off x="0" y="0"/>
          <a:ext cx="0" cy="0"/>
          <a:chOff x="0" y="0"/>
          <a:chExt cx="0" cy="0"/>
        </a:xfrm>
      </p:grpSpPr>
      <p:sp>
        <p:nvSpPr>
          <p:cNvPr id="71" name="Google Shape;71;p31"/>
          <p:cNvSpPr txBox="1"/>
          <p:nvPr>
            <p:ph type="title"/>
          </p:nvPr>
        </p:nvSpPr>
        <p:spPr>
          <a:xfrm>
            <a:off x="311700" y="2202400"/>
            <a:ext cx="8520600" cy="572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500"/>
              <a:buNone/>
              <a:defRPr sz="3500">
                <a:solidFill>
                  <a:schemeClr val="lt1"/>
                </a:solidFill>
              </a:defRPr>
            </a:lvl1pPr>
            <a:lvl2pPr lvl="1" algn="l">
              <a:lnSpc>
                <a:spcPct val="100000"/>
              </a:lnSpc>
              <a:spcBef>
                <a:spcPts val="0"/>
              </a:spcBef>
              <a:spcAft>
                <a:spcPts val="0"/>
              </a:spcAft>
              <a:buSzPts val="4200"/>
              <a:buNone/>
              <a:defRPr>
                <a:latin typeface="Proxima Nova"/>
                <a:ea typeface="Proxima Nova"/>
                <a:cs typeface="Proxima Nova"/>
                <a:sym typeface="Proxima Nova"/>
              </a:defRPr>
            </a:lvl2pPr>
            <a:lvl3pPr lvl="2" algn="l">
              <a:lnSpc>
                <a:spcPct val="100000"/>
              </a:lnSpc>
              <a:spcBef>
                <a:spcPts val="0"/>
              </a:spcBef>
              <a:spcAft>
                <a:spcPts val="0"/>
              </a:spcAft>
              <a:buSzPts val="4200"/>
              <a:buNone/>
              <a:defRPr>
                <a:latin typeface="Proxima Nova"/>
                <a:ea typeface="Proxima Nova"/>
                <a:cs typeface="Proxima Nova"/>
                <a:sym typeface="Proxima Nova"/>
              </a:defRPr>
            </a:lvl3pPr>
            <a:lvl4pPr lvl="3" algn="l">
              <a:lnSpc>
                <a:spcPct val="100000"/>
              </a:lnSpc>
              <a:spcBef>
                <a:spcPts val="0"/>
              </a:spcBef>
              <a:spcAft>
                <a:spcPts val="0"/>
              </a:spcAft>
              <a:buSzPts val="4200"/>
              <a:buNone/>
              <a:defRPr>
                <a:latin typeface="Proxima Nova"/>
                <a:ea typeface="Proxima Nova"/>
                <a:cs typeface="Proxima Nova"/>
                <a:sym typeface="Proxima Nova"/>
              </a:defRPr>
            </a:lvl4pPr>
            <a:lvl5pPr lvl="4" algn="l">
              <a:lnSpc>
                <a:spcPct val="100000"/>
              </a:lnSpc>
              <a:spcBef>
                <a:spcPts val="0"/>
              </a:spcBef>
              <a:spcAft>
                <a:spcPts val="0"/>
              </a:spcAft>
              <a:buSzPts val="4200"/>
              <a:buNone/>
              <a:defRPr>
                <a:latin typeface="Proxima Nova"/>
                <a:ea typeface="Proxima Nova"/>
                <a:cs typeface="Proxima Nova"/>
                <a:sym typeface="Proxima Nova"/>
              </a:defRPr>
            </a:lvl5pPr>
            <a:lvl6pPr lvl="5" algn="l">
              <a:lnSpc>
                <a:spcPct val="100000"/>
              </a:lnSpc>
              <a:spcBef>
                <a:spcPts val="0"/>
              </a:spcBef>
              <a:spcAft>
                <a:spcPts val="0"/>
              </a:spcAft>
              <a:buSzPts val="4200"/>
              <a:buNone/>
              <a:defRPr>
                <a:latin typeface="Proxima Nova"/>
                <a:ea typeface="Proxima Nova"/>
                <a:cs typeface="Proxima Nova"/>
                <a:sym typeface="Proxima Nova"/>
              </a:defRPr>
            </a:lvl6pPr>
            <a:lvl7pPr lvl="6" algn="l">
              <a:lnSpc>
                <a:spcPct val="100000"/>
              </a:lnSpc>
              <a:spcBef>
                <a:spcPts val="0"/>
              </a:spcBef>
              <a:spcAft>
                <a:spcPts val="0"/>
              </a:spcAft>
              <a:buSzPts val="4200"/>
              <a:buNone/>
              <a:defRPr>
                <a:latin typeface="Proxima Nova"/>
                <a:ea typeface="Proxima Nova"/>
                <a:cs typeface="Proxima Nova"/>
                <a:sym typeface="Proxima Nova"/>
              </a:defRPr>
            </a:lvl7pPr>
            <a:lvl8pPr lvl="7" algn="l">
              <a:lnSpc>
                <a:spcPct val="100000"/>
              </a:lnSpc>
              <a:spcBef>
                <a:spcPts val="0"/>
              </a:spcBef>
              <a:spcAft>
                <a:spcPts val="0"/>
              </a:spcAft>
              <a:buSzPts val="4200"/>
              <a:buNone/>
              <a:defRPr>
                <a:latin typeface="Proxima Nova"/>
                <a:ea typeface="Proxima Nova"/>
                <a:cs typeface="Proxima Nova"/>
                <a:sym typeface="Proxima Nova"/>
              </a:defRPr>
            </a:lvl8pPr>
            <a:lvl9pPr lvl="8" algn="l">
              <a:lnSpc>
                <a:spcPct val="100000"/>
              </a:lnSpc>
              <a:spcBef>
                <a:spcPts val="0"/>
              </a:spcBef>
              <a:spcAft>
                <a:spcPts val="0"/>
              </a:spcAft>
              <a:buSzPts val="4200"/>
              <a:buNone/>
              <a:defRPr>
                <a:latin typeface="Proxima Nova"/>
                <a:ea typeface="Proxima Nova"/>
                <a:cs typeface="Proxima Nova"/>
                <a:sym typeface="Proxima Nova"/>
              </a:defRPr>
            </a:lvl9pPr>
          </a:lstStyle>
          <a:p/>
        </p:txBody>
      </p:sp>
      <p:sp>
        <p:nvSpPr>
          <p:cNvPr id="72" name="Google Shape;72;p31"/>
          <p:cNvSpPr txBox="1"/>
          <p:nvPr>
            <p:ph idx="1" type="subTitle"/>
          </p:nvPr>
        </p:nvSpPr>
        <p:spPr>
          <a:xfrm>
            <a:off x="311850" y="2655150"/>
            <a:ext cx="8520300" cy="855000"/>
          </a:xfrm>
          <a:prstGeom prst="rect">
            <a:avLst/>
          </a:prstGeom>
          <a:noFill/>
          <a:ln>
            <a:noFill/>
          </a:ln>
        </p:spPr>
        <p:txBody>
          <a:bodyPr anchorCtr="0" anchor="ctr" bIns="91425" lIns="91425" spcFirstLastPara="1" rIns="91425" wrap="square" tIns="91425">
            <a:normAutofit/>
          </a:bodyPr>
          <a:lstStyle>
            <a:lvl1pPr lvl="0" algn="ctr">
              <a:lnSpc>
                <a:spcPct val="115000"/>
              </a:lnSpc>
              <a:spcBef>
                <a:spcPts val="0"/>
              </a:spcBef>
              <a:spcAft>
                <a:spcPts val="0"/>
              </a:spcAft>
              <a:buClr>
                <a:srgbClr val="9EB3EE"/>
              </a:buClr>
              <a:buSzPts val="2400"/>
              <a:buNone/>
              <a:defRPr sz="2400">
                <a:solidFill>
                  <a:srgbClr val="9EB3EE"/>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73" name="Google Shape;73;p31"/>
          <p:cNvPicPr preferRelativeResize="0"/>
          <p:nvPr/>
        </p:nvPicPr>
        <p:blipFill rotWithShape="1">
          <a:blip r:embed="rId3">
            <a:alphaModFix/>
          </a:blip>
          <a:srcRect b="0" l="0" r="0" t="9"/>
          <a:stretch/>
        </p:blipFill>
        <p:spPr>
          <a:xfrm>
            <a:off x="3778900" y="1633350"/>
            <a:ext cx="1586199" cy="3781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9pPr>
          </a:lstStyle>
          <a:p/>
        </p:txBody>
      </p:sp>
      <p:sp>
        <p:nvSpPr>
          <p:cNvPr id="7" name="Google Shape;7;p17"/>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Open Sans"/>
              <a:buChar char="●"/>
              <a:defRPr b="0" i="0" sz="18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2.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github.com/real-logic/agrona"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github.com/real-logic/agrona"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4.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hyperlink" Target="https://chronicle.software/chronicle-tune-your-cpu/" TargetMode="External"/><Relationship Id="rId4" Type="http://schemas.openxmlformats.org/officeDocument/2006/relationships/hyperlink" Target="https://chronicle.software/chronicle-tune-your-cpu/" TargetMode="External"/><Relationship Id="rId5" Type="http://schemas.openxmlformats.org/officeDocument/2006/relationships/hyperlink" Target="https://chronicle.software/java-is-very-fast/" TargetMode="External"/><Relationship Id="rId6" Type="http://schemas.openxmlformats.org/officeDocument/2006/relationships/hyperlink" Target="https://blog.stackademic.com/optimizing-java-for-low-latency-applications-803e181d0add" TargetMode="External"/><Relationship Id="rId7" Type="http://schemas.openxmlformats.org/officeDocument/2006/relationships/hyperlink" Target="https://www.youtube.com/watch?v=36t5OLLzA6c"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
          <p:cNvSpPr txBox="1"/>
          <p:nvPr>
            <p:ph type="ctrTitle"/>
          </p:nvPr>
        </p:nvSpPr>
        <p:spPr>
          <a:xfrm>
            <a:off x="2956800" y="1815325"/>
            <a:ext cx="3230400" cy="12231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lang="en"/>
              <a:t>Low latency Java</a:t>
            </a:r>
            <a:endParaRPr/>
          </a:p>
          <a:p>
            <a:pPr indent="0" lvl="0" marL="0" rtl="0" algn="ctr">
              <a:lnSpc>
                <a:spcPct val="100000"/>
              </a:lnSpc>
              <a:spcBef>
                <a:spcPts val="0"/>
              </a:spcBef>
              <a:spcAft>
                <a:spcPts val="0"/>
              </a:spcAft>
              <a:buSzPct val="100000"/>
              <a:buNone/>
            </a:pPr>
            <a:r>
              <a:rPr lang="en"/>
              <a:t> systems</a:t>
            </a:r>
            <a:endParaRPr/>
          </a:p>
        </p:txBody>
      </p:sp>
      <p:sp>
        <p:nvSpPr>
          <p:cNvPr id="79" name="Google Shape;79;p1"/>
          <p:cNvSpPr txBox="1"/>
          <p:nvPr>
            <p:ph idx="1" type="subTitle"/>
          </p:nvPr>
        </p:nvSpPr>
        <p:spPr>
          <a:xfrm>
            <a:off x="3123500" y="2898130"/>
            <a:ext cx="3054600" cy="7014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rPr lang="en"/>
              <a:t>Stefan Angelov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g1f54441caea_0_39"/>
          <p:cNvPicPr preferRelativeResize="0"/>
          <p:nvPr/>
        </p:nvPicPr>
        <p:blipFill>
          <a:blip r:embed="rId3">
            <a:alphaModFix/>
          </a:blip>
          <a:stretch>
            <a:fillRect/>
          </a:stretch>
        </p:blipFill>
        <p:spPr>
          <a:xfrm>
            <a:off x="4887450" y="228388"/>
            <a:ext cx="1464224" cy="1099025"/>
          </a:xfrm>
          <a:prstGeom prst="rect">
            <a:avLst/>
          </a:prstGeom>
          <a:noFill/>
          <a:ln>
            <a:noFill/>
          </a:ln>
        </p:spPr>
      </p:pic>
      <p:pic>
        <p:nvPicPr>
          <p:cNvPr id="85" name="Google Shape;85;g1f54441caea_0_39"/>
          <p:cNvPicPr preferRelativeResize="0"/>
          <p:nvPr/>
        </p:nvPicPr>
        <p:blipFill rotWithShape="1">
          <a:blip r:embed="rId4">
            <a:alphaModFix/>
          </a:blip>
          <a:srcRect b="0" l="0" r="0" t="0"/>
          <a:stretch/>
        </p:blipFill>
        <p:spPr>
          <a:xfrm>
            <a:off x="777525" y="547050"/>
            <a:ext cx="1950550" cy="1950550"/>
          </a:xfrm>
          <a:prstGeom prst="rect">
            <a:avLst/>
          </a:prstGeom>
          <a:noFill/>
          <a:ln>
            <a:noFill/>
          </a:ln>
          <a:effectLst>
            <a:outerShdw blurRad="57150" rotWithShape="0" algn="bl" dir="5400000" dist="19050">
              <a:srgbClr val="000000">
                <a:alpha val="50000"/>
              </a:srgbClr>
            </a:outerShdw>
          </a:effectLst>
        </p:spPr>
      </p:pic>
      <p:pic>
        <p:nvPicPr>
          <p:cNvPr id="86" name="Google Shape;86;g1f54441caea_0_39"/>
          <p:cNvPicPr preferRelativeResize="0"/>
          <p:nvPr/>
        </p:nvPicPr>
        <p:blipFill rotWithShape="1">
          <a:blip r:embed="rId5">
            <a:alphaModFix/>
          </a:blip>
          <a:srcRect b="0" l="0" r="0" t="0"/>
          <a:stretch/>
        </p:blipFill>
        <p:spPr>
          <a:xfrm>
            <a:off x="6494835" y="3686640"/>
            <a:ext cx="1228810" cy="1228810"/>
          </a:xfrm>
          <a:prstGeom prst="rect">
            <a:avLst/>
          </a:prstGeom>
          <a:noFill/>
          <a:ln>
            <a:noFill/>
          </a:ln>
        </p:spPr>
      </p:pic>
      <p:sp>
        <p:nvSpPr>
          <p:cNvPr id="87" name="Google Shape;87;g1f54441caea_0_39"/>
          <p:cNvSpPr txBox="1"/>
          <p:nvPr/>
        </p:nvSpPr>
        <p:spPr>
          <a:xfrm>
            <a:off x="6298100" y="3224950"/>
            <a:ext cx="2769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Open Sans"/>
                <a:ea typeface="Open Sans"/>
                <a:cs typeface="Open Sans"/>
                <a:sym typeface="Open Sans"/>
              </a:rPr>
              <a:t>You can find me here: </a:t>
            </a:r>
            <a:endParaRPr b="0" i="0" sz="1800" u="none" cap="none" strike="noStrike">
              <a:solidFill>
                <a:schemeClr val="dk1"/>
              </a:solidFill>
              <a:latin typeface="Open Sans"/>
              <a:ea typeface="Open Sans"/>
              <a:cs typeface="Open Sans"/>
              <a:sym typeface="Open Sans"/>
            </a:endParaRPr>
          </a:p>
        </p:txBody>
      </p:sp>
      <p:sp>
        <p:nvSpPr>
          <p:cNvPr id="88" name="Google Shape;88;g1f54441caea_0_39"/>
          <p:cNvSpPr txBox="1"/>
          <p:nvPr/>
        </p:nvSpPr>
        <p:spPr>
          <a:xfrm>
            <a:off x="777525" y="2684775"/>
            <a:ext cx="3944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1"/>
                </a:solidFill>
                <a:latin typeface="Open Sans"/>
                <a:ea typeface="Open Sans"/>
                <a:cs typeface="Open Sans"/>
                <a:sym typeface="Open Sans"/>
              </a:rPr>
              <a:t>Stefan Angelov</a:t>
            </a:r>
            <a:endParaRPr b="0" i="0" sz="1800" u="none" cap="none" strike="noStrike">
              <a:solidFill>
                <a:schemeClr val="dk1"/>
              </a:solidFill>
              <a:latin typeface="Open Sans"/>
              <a:ea typeface="Open Sans"/>
              <a:cs typeface="Open Sans"/>
              <a:sym typeface="Open Sans"/>
            </a:endParaRPr>
          </a:p>
        </p:txBody>
      </p:sp>
      <p:sp>
        <p:nvSpPr>
          <p:cNvPr id="89" name="Google Shape;89;g1f54441caea_0_39"/>
          <p:cNvSpPr txBox="1"/>
          <p:nvPr/>
        </p:nvSpPr>
        <p:spPr>
          <a:xfrm>
            <a:off x="2973100" y="1008750"/>
            <a:ext cx="322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Open Sans"/>
                <a:ea typeface="Open Sans"/>
                <a:cs typeface="Open Sans"/>
                <a:sym typeface="Open Sans"/>
              </a:rPr>
              <a:t>Co-Founder and Trainer </a:t>
            </a:r>
            <a:r>
              <a:rPr lang="en" sz="1800">
                <a:latin typeface="Open Sans"/>
                <a:ea typeface="Open Sans"/>
                <a:cs typeface="Open Sans"/>
                <a:sym typeface="Open Sans"/>
              </a:rPr>
              <a:t>at</a:t>
            </a:r>
            <a:r>
              <a:rPr lang="en" sz="1800">
                <a:solidFill>
                  <a:srgbClr val="000000"/>
                </a:solidFill>
                <a:latin typeface="Open Sans"/>
                <a:ea typeface="Open Sans"/>
                <a:cs typeface="Open Sans"/>
                <a:sym typeface="Open Sans"/>
              </a:rPr>
              <a:t> </a:t>
            </a:r>
            <a:endParaRPr sz="1800">
              <a:solidFill>
                <a:srgbClr val="000000"/>
              </a:solidFill>
              <a:latin typeface="Open Sans"/>
              <a:ea typeface="Open Sans"/>
              <a:cs typeface="Open Sans"/>
              <a:sym typeface="Open Sans"/>
            </a:endParaRPr>
          </a:p>
        </p:txBody>
      </p:sp>
      <p:pic>
        <p:nvPicPr>
          <p:cNvPr id="90" name="Google Shape;90;g1f54441caea_0_39"/>
          <p:cNvPicPr preferRelativeResize="0"/>
          <p:nvPr/>
        </p:nvPicPr>
        <p:blipFill>
          <a:blip r:embed="rId6">
            <a:alphaModFix/>
          </a:blip>
          <a:stretch>
            <a:fillRect/>
          </a:stretch>
        </p:blipFill>
        <p:spPr>
          <a:xfrm>
            <a:off x="5997005" y="1083364"/>
            <a:ext cx="2217846" cy="312461"/>
          </a:xfrm>
          <a:prstGeom prst="rect">
            <a:avLst/>
          </a:prstGeom>
          <a:noFill/>
          <a:ln>
            <a:noFill/>
          </a:ln>
        </p:spPr>
      </p:pic>
      <p:sp>
        <p:nvSpPr>
          <p:cNvPr id="91" name="Google Shape;91;g1f54441caea_0_39"/>
          <p:cNvSpPr txBox="1"/>
          <p:nvPr/>
        </p:nvSpPr>
        <p:spPr>
          <a:xfrm>
            <a:off x="2973100" y="547050"/>
            <a:ext cx="255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Open Sans"/>
                <a:ea typeface="Open Sans"/>
                <a:cs typeface="Open Sans"/>
                <a:sym typeface="Open Sans"/>
              </a:rPr>
              <a:t>Architect Lead at </a:t>
            </a:r>
            <a:endParaRPr sz="1800">
              <a:solidFill>
                <a:srgbClr val="000000"/>
              </a:solidFill>
              <a:latin typeface="Open Sans"/>
              <a:ea typeface="Open Sans"/>
              <a:cs typeface="Open Sans"/>
              <a:sym typeface="Open Sans"/>
            </a:endParaRPr>
          </a:p>
        </p:txBody>
      </p:sp>
      <p:sp>
        <p:nvSpPr>
          <p:cNvPr id="92" name="Google Shape;92;g1f54441caea_0_39"/>
          <p:cNvSpPr txBox="1"/>
          <p:nvPr/>
        </p:nvSpPr>
        <p:spPr>
          <a:xfrm>
            <a:off x="294675" y="3146475"/>
            <a:ext cx="419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The Java guy from pLoVEdiv</a:t>
            </a:r>
            <a:endParaRPr sz="1800">
              <a:solidFill>
                <a:schemeClr val="dk1"/>
              </a:solidFill>
              <a:latin typeface="Open Sans"/>
              <a:ea typeface="Open Sans"/>
              <a:cs typeface="Open Sans"/>
              <a:sym typeface="Open Sans"/>
            </a:endParaRPr>
          </a:p>
        </p:txBody>
      </p:sp>
      <p:pic>
        <p:nvPicPr>
          <p:cNvPr id="93" name="Google Shape;93;g1f54441caea_0_39"/>
          <p:cNvPicPr preferRelativeResize="0"/>
          <p:nvPr/>
        </p:nvPicPr>
        <p:blipFill>
          <a:blip r:embed="rId7">
            <a:alphaModFix/>
          </a:blip>
          <a:stretch>
            <a:fillRect/>
          </a:stretch>
        </p:blipFill>
        <p:spPr>
          <a:xfrm>
            <a:off x="3469250" y="2137997"/>
            <a:ext cx="2769900" cy="1824697"/>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idx="4294967295" type="body"/>
          </p:nvPr>
        </p:nvSpPr>
        <p:spPr>
          <a:xfrm>
            <a:off x="311700" y="840000"/>
            <a:ext cx="7989300" cy="40548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n" sz="1900"/>
              <a:t>What is low latency systems?</a:t>
            </a:r>
            <a:endParaRPr sz="1900"/>
          </a:p>
          <a:p>
            <a:pPr indent="-349250" lvl="0" marL="457200" rtl="0" algn="l">
              <a:lnSpc>
                <a:spcPct val="115000"/>
              </a:lnSpc>
              <a:spcBef>
                <a:spcPts val="1200"/>
              </a:spcBef>
              <a:spcAft>
                <a:spcPts val="0"/>
              </a:spcAft>
              <a:buSzPts val="1900"/>
              <a:buChar char="●"/>
            </a:pPr>
            <a:r>
              <a:rPr lang="en" sz="1900"/>
              <a:t>How JVM works (Phases &amp; Metaspace)</a:t>
            </a:r>
            <a:endParaRPr sz="1900"/>
          </a:p>
          <a:p>
            <a:pPr indent="-349250" lvl="0" marL="457200" rtl="0" algn="l">
              <a:lnSpc>
                <a:spcPct val="115000"/>
              </a:lnSpc>
              <a:spcBef>
                <a:spcPts val="1200"/>
              </a:spcBef>
              <a:spcAft>
                <a:spcPts val="0"/>
              </a:spcAft>
              <a:buSzPts val="1900"/>
              <a:buChar char="●"/>
            </a:pPr>
            <a:r>
              <a:rPr lang="en" sz="1900"/>
              <a:t>Java’s Memory Model — Heap, Stack, and Metaspace</a:t>
            </a:r>
            <a:endParaRPr sz="1900"/>
          </a:p>
          <a:p>
            <a:pPr indent="-349250" lvl="0" marL="457200" rtl="0" algn="l">
              <a:lnSpc>
                <a:spcPct val="115000"/>
              </a:lnSpc>
              <a:spcBef>
                <a:spcPts val="1200"/>
              </a:spcBef>
              <a:spcAft>
                <a:spcPts val="0"/>
              </a:spcAft>
              <a:buSzPts val="1900"/>
              <a:buChar char="●"/>
            </a:pPr>
            <a:r>
              <a:rPr lang="en" sz="1900"/>
              <a:t>Heap Memory Best Practices</a:t>
            </a:r>
            <a:endParaRPr sz="1900"/>
          </a:p>
          <a:p>
            <a:pPr indent="-349250" lvl="0" marL="457200" rtl="0" algn="l">
              <a:lnSpc>
                <a:spcPct val="115000"/>
              </a:lnSpc>
              <a:spcBef>
                <a:spcPts val="1200"/>
              </a:spcBef>
              <a:spcAft>
                <a:spcPts val="0"/>
              </a:spcAft>
              <a:buSzPts val="1900"/>
              <a:buChar char="●"/>
            </a:pPr>
            <a:r>
              <a:rPr lang="en" sz="1900"/>
              <a:t>Thread Synchronization</a:t>
            </a:r>
            <a:endParaRPr sz="1900"/>
          </a:p>
          <a:p>
            <a:pPr indent="-349250" lvl="0" marL="457200" rtl="0" algn="l">
              <a:lnSpc>
                <a:spcPct val="115000"/>
              </a:lnSpc>
              <a:spcBef>
                <a:spcPts val="1200"/>
              </a:spcBef>
              <a:spcAft>
                <a:spcPts val="0"/>
              </a:spcAft>
              <a:buSzPts val="1900"/>
              <a:buChar char="●"/>
            </a:pPr>
            <a:r>
              <a:rPr lang="en" sz="1900"/>
              <a:t>LMAX </a:t>
            </a:r>
            <a:r>
              <a:rPr lang="en" sz="1900"/>
              <a:t>disruptor</a:t>
            </a:r>
            <a:endParaRPr sz="1900"/>
          </a:p>
          <a:p>
            <a:pPr indent="-349250" lvl="0" marL="457200" rtl="0" algn="l">
              <a:spcBef>
                <a:spcPts val="1200"/>
              </a:spcBef>
              <a:spcAft>
                <a:spcPts val="0"/>
              </a:spcAft>
              <a:buSzPts val="1900"/>
              <a:buChar char="●"/>
            </a:pPr>
            <a:r>
              <a:rPr lang="en" sz="1900"/>
              <a:t>Chronicle Map</a:t>
            </a:r>
            <a:endParaRPr sz="1900"/>
          </a:p>
          <a:p>
            <a:pPr indent="-349250" lvl="0" marL="457200" rtl="0" algn="l">
              <a:lnSpc>
                <a:spcPct val="115000"/>
              </a:lnSpc>
              <a:spcBef>
                <a:spcPts val="1200"/>
              </a:spcBef>
              <a:spcAft>
                <a:spcPts val="0"/>
              </a:spcAft>
              <a:buSzPts val="1900"/>
              <a:buChar char="●"/>
            </a:pPr>
            <a:r>
              <a:rPr lang="en" sz="1900"/>
              <a:t>Chronicle Queue</a:t>
            </a:r>
            <a:endParaRPr sz="1900"/>
          </a:p>
        </p:txBody>
      </p:sp>
      <p:sp>
        <p:nvSpPr>
          <p:cNvPr id="99" name="Google Shape;99;p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Agenda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animEffect filter="fade" transition="in">
                                      <p:cBhvr>
                                        <p:cTn dur="1000"/>
                                        <p:tgtEl>
                                          <p:spTgt spid="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animEffect filter="fade" transition="in">
                                      <p:cBhvr>
                                        <p:cTn dur="1000"/>
                                        <p:tgtEl>
                                          <p:spTgt spid="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animEffect filter="fade" transition="in">
                                      <p:cBhvr>
                                        <p:cTn dur="1000"/>
                                        <p:tgtEl>
                                          <p:spTgt spid="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animEffect filter="fade" transition="in">
                                      <p:cBhvr>
                                        <p:cTn dur="1000"/>
                                        <p:tgtEl>
                                          <p:spTgt spid="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animEffect filter="fade" transition="in">
                                      <p:cBhvr>
                                        <p:cTn dur="1000"/>
                                        <p:tgtEl>
                                          <p:spTgt spid="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animEffect filter="fade" transition="in">
                                      <p:cBhvr>
                                        <p:cTn dur="1000"/>
                                        <p:tgtEl>
                                          <p:spTgt spid="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6" st="6"/>
                                            </p:txEl>
                                          </p:spTgt>
                                        </p:tgtEl>
                                        <p:attrNameLst>
                                          <p:attrName>style.visibility</p:attrName>
                                        </p:attrNameLst>
                                      </p:cBhvr>
                                      <p:to>
                                        <p:strVal val="visible"/>
                                      </p:to>
                                    </p:set>
                                    <p:animEffect filter="fade" transition="in">
                                      <p:cBhvr>
                                        <p:cTn dur="1000"/>
                                        <p:tgtEl>
                                          <p:spTgt spid="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7" st="7"/>
                                            </p:txEl>
                                          </p:spTgt>
                                        </p:tgtEl>
                                        <p:attrNameLst>
                                          <p:attrName>style.visibility</p:attrName>
                                        </p:attrNameLst>
                                      </p:cBhvr>
                                      <p:to>
                                        <p:strVal val="visible"/>
                                      </p:to>
                                    </p:set>
                                    <p:animEffect filter="fade" transition="in">
                                      <p:cBhvr>
                                        <p:cTn dur="1000"/>
                                        <p:tgtEl>
                                          <p:spTgt spid="9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8" st="8"/>
                                            </p:txEl>
                                          </p:spTgt>
                                        </p:tgtEl>
                                        <p:attrNameLst>
                                          <p:attrName>style.visibility</p:attrName>
                                        </p:attrNameLst>
                                      </p:cBhvr>
                                      <p:to>
                                        <p:strVal val="visible"/>
                                      </p:to>
                                    </p:set>
                                    <p:animEffect filter="fade" transition="in">
                                      <p:cBhvr>
                                        <p:cTn dur="1000"/>
                                        <p:tgtEl>
                                          <p:spTgt spid="98">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Is Java a good choice for low latency programing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2e0ec7b56cf_0_38"/>
          <p:cNvSpPr txBox="1"/>
          <p:nvPr>
            <p:ph idx="4294967295" type="body"/>
          </p:nvPr>
        </p:nvSpPr>
        <p:spPr>
          <a:xfrm>
            <a:off x="311700" y="840000"/>
            <a:ext cx="7989300" cy="346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n" sz="1900"/>
              <a:t>Low latency systems are computer systems or networks engineered to minimize the time it takes to process and transmit data.</a:t>
            </a:r>
            <a:endParaRPr sz="1900"/>
          </a:p>
          <a:p>
            <a:pPr indent="-349250" lvl="0" marL="457200" rtl="0" algn="l">
              <a:lnSpc>
                <a:spcPct val="115000"/>
              </a:lnSpc>
              <a:spcBef>
                <a:spcPts val="1200"/>
              </a:spcBef>
              <a:spcAft>
                <a:spcPts val="0"/>
              </a:spcAft>
              <a:buSzPts val="1900"/>
              <a:buChar char="●"/>
            </a:pPr>
            <a:r>
              <a:rPr lang="en" sz="1900"/>
              <a:t>They are optimized for speed, aiming to achieve the lowest possible delay or latency in performing tasks.</a:t>
            </a:r>
            <a:endParaRPr sz="1900"/>
          </a:p>
          <a:p>
            <a:pPr indent="0" lvl="0" marL="0" rtl="0" algn="l">
              <a:lnSpc>
                <a:spcPct val="115000"/>
              </a:lnSpc>
              <a:spcBef>
                <a:spcPts val="1200"/>
              </a:spcBef>
              <a:spcAft>
                <a:spcPts val="0"/>
              </a:spcAft>
              <a:buNone/>
            </a:pPr>
            <a:r>
              <a:t/>
            </a:r>
            <a:endParaRPr sz="1900"/>
          </a:p>
        </p:txBody>
      </p:sp>
      <p:sp>
        <p:nvSpPr>
          <p:cNvPr id="110" name="Google Shape;110;g2e0ec7b56cf_0_3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What is low latency systems?</a:t>
            </a:r>
            <a:endParaRPr/>
          </a:p>
        </p:txBody>
      </p:sp>
      <p:pic>
        <p:nvPicPr>
          <p:cNvPr id="111" name="Google Shape;111;g2e0ec7b56cf_0_38"/>
          <p:cNvPicPr preferRelativeResize="0"/>
          <p:nvPr/>
        </p:nvPicPr>
        <p:blipFill>
          <a:blip r:embed="rId3">
            <a:alphaModFix/>
          </a:blip>
          <a:stretch>
            <a:fillRect/>
          </a:stretch>
        </p:blipFill>
        <p:spPr>
          <a:xfrm>
            <a:off x="1279650" y="3356297"/>
            <a:ext cx="7021348" cy="1518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animEffect filter="fade" transition="in">
                                      <p:cBhvr>
                                        <p:cTn dur="1000"/>
                                        <p:tgtEl>
                                          <p:spTgt spid="1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animEffect filter="fade" transition="in">
                                      <p:cBhvr>
                                        <p:cTn dur="1000"/>
                                        <p:tgtEl>
                                          <p:spTgt spid="1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animEffect filter="fade" transition="in">
                                      <p:cBhvr>
                                        <p:cTn dur="1000"/>
                                        <p:tgtEl>
                                          <p:spTgt spid="1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animEffect filter="fade" transition="in">
                                      <p:cBhvr>
                                        <p:cTn dur="1000"/>
                                        <p:tgtEl>
                                          <p:spTgt spid="10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2e0ec7b56cf_0_44"/>
          <p:cNvSpPr txBox="1"/>
          <p:nvPr>
            <p:ph idx="4294967295" type="body"/>
          </p:nvPr>
        </p:nvSpPr>
        <p:spPr>
          <a:xfrm>
            <a:off x="311700" y="840000"/>
            <a:ext cx="7989300" cy="346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n" sz="1900"/>
              <a:t>1 / 1 000 s  = millisecond (ms)</a:t>
            </a:r>
            <a:endParaRPr sz="1900"/>
          </a:p>
          <a:p>
            <a:pPr indent="-349250" lvl="0" marL="457200" rtl="0" algn="l">
              <a:lnSpc>
                <a:spcPct val="115000"/>
              </a:lnSpc>
              <a:spcBef>
                <a:spcPts val="1200"/>
              </a:spcBef>
              <a:spcAft>
                <a:spcPts val="0"/>
              </a:spcAft>
              <a:buSzPts val="1900"/>
              <a:buChar char="●"/>
            </a:pPr>
            <a:r>
              <a:rPr lang="en" sz="1900"/>
              <a:t>1 / 1 000 000 s = microsecond (us)</a:t>
            </a:r>
            <a:endParaRPr sz="1900"/>
          </a:p>
          <a:p>
            <a:pPr indent="-349250" lvl="0" marL="457200" rtl="0" algn="l">
              <a:lnSpc>
                <a:spcPct val="115000"/>
              </a:lnSpc>
              <a:spcBef>
                <a:spcPts val="1200"/>
              </a:spcBef>
              <a:spcAft>
                <a:spcPts val="0"/>
              </a:spcAft>
              <a:buSzPts val="1900"/>
              <a:buChar char="●"/>
            </a:pPr>
            <a:r>
              <a:rPr lang="en" sz="1900"/>
              <a:t>1 / 1 000 000 000 s = nanosecond (ns) </a:t>
            </a:r>
            <a:endParaRPr sz="1900"/>
          </a:p>
        </p:txBody>
      </p:sp>
      <p:sp>
        <p:nvSpPr>
          <p:cNvPr id="117" name="Google Shape;117;g2e0ec7b56cf_0_4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Introduction - Timescales</a:t>
            </a:r>
            <a:endParaRPr/>
          </a:p>
        </p:txBody>
      </p:sp>
      <p:pic>
        <p:nvPicPr>
          <p:cNvPr id="118" name="Google Shape;118;g2e0ec7b56cf_0_44"/>
          <p:cNvPicPr preferRelativeResize="0"/>
          <p:nvPr/>
        </p:nvPicPr>
        <p:blipFill>
          <a:blip r:embed="rId3">
            <a:alphaModFix/>
          </a:blip>
          <a:stretch>
            <a:fillRect/>
          </a:stretch>
        </p:blipFill>
        <p:spPr>
          <a:xfrm>
            <a:off x="5078375" y="475900"/>
            <a:ext cx="3973000" cy="31937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animEffect filter="fade" transition="in">
                                      <p:cBhvr>
                                        <p:cTn dur="1000"/>
                                        <p:tgtEl>
                                          <p:spTgt spid="1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animEffect filter="fade" transition="in">
                                      <p:cBhvr>
                                        <p:cTn dur="1000"/>
                                        <p:tgtEl>
                                          <p:spTgt spid="1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animEffect filter="fade" transition="in">
                                      <p:cBhvr>
                                        <p:cTn dur="1000"/>
                                        <p:tgtEl>
                                          <p:spTgt spid="1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animEffect filter="fade" transition="in">
                                      <p:cBhvr>
                                        <p:cTn dur="1000"/>
                                        <p:tgtEl>
                                          <p:spTgt spid="11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e0ec7b56cf_0_26"/>
          <p:cNvSpPr txBox="1"/>
          <p:nvPr>
            <p:ph idx="4294967295" type="body"/>
          </p:nvPr>
        </p:nvSpPr>
        <p:spPr>
          <a:xfrm>
            <a:off x="311700" y="840000"/>
            <a:ext cx="7989300" cy="346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n" sz="1900"/>
              <a:t>Java - aim for 10 us (microsecond)</a:t>
            </a:r>
            <a:endParaRPr sz="1900"/>
          </a:p>
          <a:p>
            <a:pPr indent="-349250" lvl="0" marL="457200" rtl="0" algn="l">
              <a:lnSpc>
                <a:spcPct val="115000"/>
              </a:lnSpc>
              <a:spcBef>
                <a:spcPts val="1200"/>
              </a:spcBef>
              <a:spcAft>
                <a:spcPts val="0"/>
              </a:spcAft>
              <a:buSzPts val="1900"/>
              <a:buChar char="●"/>
            </a:pPr>
            <a:r>
              <a:rPr lang="en" sz="1900"/>
              <a:t>C/C++ aim for 10 us (microsecond)</a:t>
            </a:r>
            <a:endParaRPr sz="1900"/>
          </a:p>
        </p:txBody>
      </p:sp>
      <p:sp>
        <p:nvSpPr>
          <p:cNvPr id="124" name="Google Shape;124;g2e0ec7b56cf_0_2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Language comparison</a:t>
            </a:r>
            <a:endParaRPr/>
          </a:p>
        </p:txBody>
      </p:sp>
      <p:pic>
        <p:nvPicPr>
          <p:cNvPr id="125" name="Google Shape;125;g2e0ec7b56cf_0_26"/>
          <p:cNvPicPr preferRelativeResize="0"/>
          <p:nvPr/>
        </p:nvPicPr>
        <p:blipFill>
          <a:blip r:embed="rId3">
            <a:alphaModFix/>
          </a:blip>
          <a:stretch>
            <a:fillRect/>
          </a:stretch>
        </p:blipFill>
        <p:spPr>
          <a:xfrm>
            <a:off x="5373375" y="459050"/>
            <a:ext cx="3066975" cy="2886974"/>
          </a:xfrm>
          <a:prstGeom prst="rect">
            <a:avLst/>
          </a:prstGeom>
          <a:noFill/>
          <a:ln>
            <a:noFill/>
          </a:ln>
        </p:spPr>
      </p:pic>
      <p:sp>
        <p:nvSpPr>
          <p:cNvPr id="126" name="Google Shape;126;g2e0ec7b56cf_0_26"/>
          <p:cNvSpPr txBox="1"/>
          <p:nvPr/>
        </p:nvSpPr>
        <p:spPr>
          <a:xfrm>
            <a:off x="404175" y="3578425"/>
            <a:ext cx="6904200" cy="84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rgbClr val="4A5056"/>
                </a:solidFill>
                <a:latin typeface="Proxima Nova"/>
                <a:ea typeface="Proxima Nova"/>
                <a:cs typeface="Proxima Nova"/>
                <a:sym typeface="Proxima Nova"/>
              </a:rPr>
              <a:t>Python is around 50 times slower than Java</a:t>
            </a:r>
            <a:endParaRPr sz="2500">
              <a:solidFill>
                <a:srgbClr val="4A5056"/>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animEffect filter="fade" transition="in">
                                      <p:cBhvr>
                                        <p:cTn dur="1000"/>
                                        <p:tgtEl>
                                          <p:spTgt spid="1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animEffect filter="fade" transition="in">
                                      <p:cBhvr>
                                        <p:cTn dur="1000"/>
                                        <p:tgtEl>
                                          <p:spTgt spid="1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animEffect filter="fade" transition="in">
                                      <p:cBhvr>
                                        <p:cTn dur="1000"/>
                                        <p:tgtEl>
                                          <p:spTgt spid="1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e0ec7b56cf_0_5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Low latency domains</a:t>
            </a:r>
            <a:endParaRPr/>
          </a:p>
        </p:txBody>
      </p:sp>
      <p:sp>
        <p:nvSpPr>
          <p:cNvPr id="132" name="Google Shape;132;g2e0ec7b56cf_0_51"/>
          <p:cNvSpPr txBox="1"/>
          <p:nvPr>
            <p:ph idx="4294967295" type="body"/>
          </p:nvPr>
        </p:nvSpPr>
        <p:spPr>
          <a:xfrm>
            <a:off x="311700" y="840000"/>
            <a:ext cx="7989300" cy="346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n" sz="1900"/>
              <a:t>High frequency trading</a:t>
            </a:r>
            <a:endParaRPr sz="1900"/>
          </a:p>
          <a:p>
            <a:pPr indent="-349250" lvl="0" marL="457200" rtl="0" algn="l">
              <a:lnSpc>
                <a:spcPct val="115000"/>
              </a:lnSpc>
              <a:spcBef>
                <a:spcPts val="1200"/>
              </a:spcBef>
              <a:spcAft>
                <a:spcPts val="0"/>
              </a:spcAft>
              <a:buSzPts val="1900"/>
              <a:buChar char="●"/>
            </a:pPr>
            <a:r>
              <a:rPr lang="en" sz="1900"/>
              <a:t>Online gaming</a:t>
            </a:r>
            <a:endParaRPr sz="1900"/>
          </a:p>
          <a:p>
            <a:pPr indent="-349250" lvl="0" marL="457200" rtl="0" algn="l">
              <a:lnSpc>
                <a:spcPct val="115000"/>
              </a:lnSpc>
              <a:spcBef>
                <a:spcPts val="1200"/>
              </a:spcBef>
              <a:spcAft>
                <a:spcPts val="0"/>
              </a:spcAft>
              <a:buSzPts val="1900"/>
              <a:buChar char="●"/>
            </a:pPr>
            <a:r>
              <a:rPr lang="en" sz="1900"/>
              <a:t>Betting and bidding</a:t>
            </a:r>
            <a:endParaRPr sz="1900"/>
          </a:p>
          <a:p>
            <a:pPr indent="-349250" lvl="0" marL="457200" rtl="0" algn="l">
              <a:lnSpc>
                <a:spcPct val="115000"/>
              </a:lnSpc>
              <a:spcBef>
                <a:spcPts val="1200"/>
              </a:spcBef>
              <a:spcAft>
                <a:spcPts val="0"/>
              </a:spcAft>
              <a:buSzPts val="1900"/>
              <a:buChar char="●"/>
            </a:pPr>
            <a:r>
              <a:rPr lang="en" sz="1900"/>
              <a:t>Vehicle autopilot systems</a:t>
            </a:r>
            <a:endParaRPr sz="1900"/>
          </a:p>
          <a:p>
            <a:pPr indent="0" lvl="0" marL="0" rtl="0" algn="l">
              <a:lnSpc>
                <a:spcPct val="115000"/>
              </a:lnSpc>
              <a:spcBef>
                <a:spcPts val="1200"/>
              </a:spcBef>
              <a:spcAft>
                <a:spcPts val="0"/>
              </a:spcAft>
              <a:buNone/>
            </a:pPr>
            <a:r>
              <a:t/>
            </a:r>
            <a:endParaRPr sz="1900"/>
          </a:p>
        </p:txBody>
      </p:sp>
      <p:pic>
        <p:nvPicPr>
          <p:cNvPr id="133" name="Google Shape;133;g2e0ec7b56cf_0_51"/>
          <p:cNvPicPr preferRelativeResize="0"/>
          <p:nvPr/>
        </p:nvPicPr>
        <p:blipFill>
          <a:blip r:embed="rId3">
            <a:alphaModFix/>
          </a:blip>
          <a:stretch>
            <a:fillRect/>
          </a:stretch>
        </p:blipFill>
        <p:spPr>
          <a:xfrm>
            <a:off x="3918549" y="1084155"/>
            <a:ext cx="5031625" cy="28308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e0ec7b56cf_0_72"/>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Throughput, Batching, and Response Time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2e0ec7b56cf_0_66"/>
          <p:cNvSpPr txBox="1"/>
          <p:nvPr>
            <p:ph type="title"/>
          </p:nvPr>
        </p:nvSpPr>
        <p:spPr>
          <a:xfrm>
            <a:off x="464100" y="4683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Throughput Measurements</a:t>
            </a:r>
            <a:endParaRPr/>
          </a:p>
        </p:txBody>
      </p:sp>
      <p:sp>
        <p:nvSpPr>
          <p:cNvPr id="144" name="Google Shape;144;g2e0ec7b56cf_0_66"/>
          <p:cNvSpPr txBox="1"/>
          <p:nvPr/>
        </p:nvSpPr>
        <p:spPr>
          <a:xfrm>
            <a:off x="155100" y="1240700"/>
            <a:ext cx="8988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A throughput measurement is based on the amount of work that can be accomplished in a certain period of time</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45" name="Google Shape;145;g2e0ec7b56cf_0_66"/>
          <p:cNvSpPr txBox="1"/>
          <p:nvPr>
            <p:ph idx="4294967295" type="body"/>
          </p:nvPr>
        </p:nvSpPr>
        <p:spPr>
          <a:xfrm>
            <a:off x="5018250" y="2020775"/>
            <a:ext cx="3966600" cy="2425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n" sz="1900"/>
              <a:t>T</a:t>
            </a:r>
            <a:r>
              <a:rPr lang="en" sz="1900"/>
              <a:t>ransactions per second (TPS)</a:t>
            </a:r>
            <a:endParaRPr sz="1900"/>
          </a:p>
          <a:p>
            <a:pPr indent="-349250" lvl="0" marL="457200" rtl="0" algn="l">
              <a:lnSpc>
                <a:spcPct val="115000"/>
              </a:lnSpc>
              <a:spcBef>
                <a:spcPts val="1200"/>
              </a:spcBef>
              <a:spcAft>
                <a:spcPts val="0"/>
              </a:spcAft>
              <a:buSzPts val="1900"/>
              <a:buChar char="●"/>
            </a:pPr>
            <a:r>
              <a:rPr lang="en" sz="1900"/>
              <a:t>R</a:t>
            </a:r>
            <a:r>
              <a:rPr lang="en" sz="1900"/>
              <a:t>equests per second (RPS)</a:t>
            </a:r>
            <a:endParaRPr sz="1900"/>
          </a:p>
          <a:p>
            <a:pPr indent="-349250" lvl="0" marL="457200" rtl="0" algn="l">
              <a:lnSpc>
                <a:spcPct val="115000"/>
              </a:lnSpc>
              <a:spcBef>
                <a:spcPts val="1200"/>
              </a:spcBef>
              <a:spcAft>
                <a:spcPts val="0"/>
              </a:spcAft>
              <a:buSzPts val="1900"/>
              <a:buChar char="●"/>
            </a:pPr>
            <a:r>
              <a:rPr lang="en" sz="1900"/>
              <a:t>O</a:t>
            </a:r>
            <a:r>
              <a:rPr lang="en" sz="1900"/>
              <a:t>perations per second (OPS)</a:t>
            </a:r>
            <a:endParaRPr sz="1900"/>
          </a:p>
        </p:txBody>
      </p:sp>
      <p:pic>
        <p:nvPicPr>
          <p:cNvPr id="146" name="Google Shape;146;g2e0ec7b56cf_0_66"/>
          <p:cNvPicPr preferRelativeResize="0"/>
          <p:nvPr/>
        </p:nvPicPr>
        <p:blipFill>
          <a:blip r:embed="rId3">
            <a:alphaModFix/>
          </a:blip>
          <a:stretch>
            <a:fillRect/>
          </a:stretch>
        </p:blipFill>
        <p:spPr>
          <a:xfrm>
            <a:off x="152400" y="2408900"/>
            <a:ext cx="4713450" cy="22811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2e0ec7b56cf_0_82"/>
          <p:cNvSpPr txBox="1"/>
          <p:nvPr>
            <p:ph type="title"/>
          </p:nvPr>
        </p:nvSpPr>
        <p:spPr>
          <a:xfrm>
            <a:off x="464100" y="4683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Response-Time</a:t>
            </a:r>
            <a:endParaRPr/>
          </a:p>
        </p:txBody>
      </p:sp>
      <p:sp>
        <p:nvSpPr>
          <p:cNvPr id="152" name="Google Shape;152;g2e0ec7b56cf_0_82"/>
          <p:cNvSpPr txBox="1"/>
          <p:nvPr/>
        </p:nvSpPr>
        <p:spPr>
          <a:xfrm>
            <a:off x="155100" y="1393100"/>
            <a:ext cx="8988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Response time refers to the interval between the initiation of a request and the completion of the response.</a:t>
            </a:r>
            <a:endParaRPr sz="1800">
              <a:solidFill>
                <a:schemeClr val="dk1"/>
              </a:solidFill>
              <a:latin typeface="Open Sans"/>
              <a:ea typeface="Open Sans"/>
              <a:cs typeface="Open Sans"/>
              <a:sym typeface="Open Sans"/>
            </a:endParaRPr>
          </a:p>
        </p:txBody>
      </p:sp>
      <p:pic>
        <p:nvPicPr>
          <p:cNvPr id="153" name="Google Shape;153;g2e0ec7b56cf_0_82"/>
          <p:cNvPicPr preferRelativeResize="0"/>
          <p:nvPr/>
        </p:nvPicPr>
        <p:blipFill>
          <a:blip r:embed="rId3">
            <a:alphaModFix/>
          </a:blip>
          <a:stretch>
            <a:fillRect/>
          </a:stretch>
        </p:blipFill>
        <p:spPr>
          <a:xfrm>
            <a:off x="1465900" y="2250300"/>
            <a:ext cx="6648450" cy="2409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2e0ec7b56cf_0_90"/>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Why Java not some other language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e0ec7b56cf_0_94"/>
          <p:cNvSpPr txBox="1"/>
          <p:nvPr/>
        </p:nvSpPr>
        <p:spPr>
          <a:xfrm>
            <a:off x="159975" y="733200"/>
            <a:ext cx="24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pen Sans"/>
                <a:ea typeface="Open Sans"/>
                <a:cs typeface="Open Sans"/>
                <a:sym typeface="Open Sans"/>
              </a:rPr>
              <a:t>Wide ecosystems</a:t>
            </a:r>
            <a:endParaRPr b="1" sz="1800">
              <a:solidFill>
                <a:schemeClr val="dk1"/>
              </a:solidFill>
              <a:latin typeface="Open Sans"/>
              <a:ea typeface="Open Sans"/>
              <a:cs typeface="Open Sans"/>
              <a:sym typeface="Open Sans"/>
            </a:endParaRPr>
          </a:p>
        </p:txBody>
      </p:sp>
      <p:pic>
        <p:nvPicPr>
          <p:cNvPr id="164" name="Google Shape;164;g2e0ec7b56cf_0_94"/>
          <p:cNvPicPr preferRelativeResize="0"/>
          <p:nvPr/>
        </p:nvPicPr>
        <p:blipFill>
          <a:blip r:embed="rId3">
            <a:alphaModFix/>
          </a:blip>
          <a:stretch>
            <a:fillRect/>
          </a:stretch>
        </p:blipFill>
        <p:spPr>
          <a:xfrm>
            <a:off x="2904850" y="706225"/>
            <a:ext cx="2006176" cy="515650"/>
          </a:xfrm>
          <a:prstGeom prst="rect">
            <a:avLst/>
          </a:prstGeom>
          <a:noFill/>
          <a:ln>
            <a:noFill/>
          </a:ln>
        </p:spPr>
      </p:pic>
      <p:pic>
        <p:nvPicPr>
          <p:cNvPr id="165" name="Google Shape;165;g2e0ec7b56cf_0_94"/>
          <p:cNvPicPr preferRelativeResize="0"/>
          <p:nvPr/>
        </p:nvPicPr>
        <p:blipFill>
          <a:blip r:embed="rId4">
            <a:alphaModFix/>
          </a:blip>
          <a:stretch>
            <a:fillRect/>
          </a:stretch>
        </p:blipFill>
        <p:spPr>
          <a:xfrm>
            <a:off x="5094025" y="485550"/>
            <a:ext cx="957025" cy="957025"/>
          </a:xfrm>
          <a:prstGeom prst="rect">
            <a:avLst/>
          </a:prstGeom>
          <a:noFill/>
          <a:ln>
            <a:noFill/>
          </a:ln>
        </p:spPr>
      </p:pic>
      <p:pic>
        <p:nvPicPr>
          <p:cNvPr id="166" name="Google Shape;166;g2e0ec7b56cf_0_94"/>
          <p:cNvPicPr preferRelativeResize="0"/>
          <p:nvPr/>
        </p:nvPicPr>
        <p:blipFill>
          <a:blip r:embed="rId5">
            <a:alphaModFix/>
          </a:blip>
          <a:stretch>
            <a:fillRect/>
          </a:stretch>
        </p:blipFill>
        <p:spPr>
          <a:xfrm>
            <a:off x="6391550" y="635980"/>
            <a:ext cx="2454850" cy="656125"/>
          </a:xfrm>
          <a:prstGeom prst="rect">
            <a:avLst/>
          </a:prstGeom>
          <a:noFill/>
          <a:ln>
            <a:noFill/>
          </a:ln>
        </p:spPr>
      </p:pic>
      <p:sp>
        <p:nvSpPr>
          <p:cNvPr id="167" name="Google Shape;167;g2e0ec7b56cf_0_94"/>
          <p:cNvSpPr txBox="1"/>
          <p:nvPr/>
        </p:nvSpPr>
        <p:spPr>
          <a:xfrm>
            <a:off x="159982" y="1736000"/>
            <a:ext cx="366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pen Sans"/>
                <a:ea typeface="Open Sans"/>
                <a:cs typeface="Open Sans"/>
                <a:sym typeface="Open Sans"/>
              </a:rPr>
              <a:t>Amazing Community</a:t>
            </a:r>
            <a:endParaRPr b="1" sz="1800">
              <a:solidFill>
                <a:schemeClr val="dk1"/>
              </a:solidFill>
              <a:latin typeface="Open Sans"/>
              <a:ea typeface="Open Sans"/>
              <a:cs typeface="Open Sans"/>
              <a:sym typeface="Open Sans"/>
            </a:endParaRPr>
          </a:p>
        </p:txBody>
      </p:sp>
      <p:pic>
        <p:nvPicPr>
          <p:cNvPr id="168" name="Google Shape;168;g2e0ec7b56cf_0_94"/>
          <p:cNvPicPr preferRelativeResize="0"/>
          <p:nvPr/>
        </p:nvPicPr>
        <p:blipFill>
          <a:blip r:embed="rId6">
            <a:alphaModFix/>
          </a:blip>
          <a:stretch>
            <a:fillRect/>
          </a:stretch>
        </p:blipFill>
        <p:spPr>
          <a:xfrm>
            <a:off x="3206650" y="1507150"/>
            <a:ext cx="5255350" cy="2956126"/>
          </a:xfrm>
          <a:prstGeom prst="rect">
            <a:avLst/>
          </a:prstGeom>
          <a:noFill/>
          <a:ln>
            <a:noFill/>
          </a:ln>
        </p:spPr>
      </p:pic>
      <p:sp>
        <p:nvSpPr>
          <p:cNvPr id="169" name="Google Shape;169;g2e0ec7b56cf_0_94"/>
          <p:cNvSpPr txBox="1"/>
          <p:nvPr/>
        </p:nvSpPr>
        <p:spPr>
          <a:xfrm>
            <a:off x="159982" y="2379875"/>
            <a:ext cx="366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pen Sans"/>
                <a:ea typeface="Open Sans"/>
                <a:cs typeface="Open Sans"/>
                <a:sym typeface="Open Sans"/>
              </a:rPr>
              <a:t>Speed of development</a:t>
            </a:r>
            <a:endParaRPr b="1" sz="1800">
              <a:solidFill>
                <a:schemeClr val="dk1"/>
              </a:solidFill>
              <a:latin typeface="Open Sans"/>
              <a:ea typeface="Open Sans"/>
              <a:cs typeface="Open Sans"/>
              <a:sym typeface="Open Sans"/>
            </a:endParaRPr>
          </a:p>
        </p:txBody>
      </p:sp>
      <p:sp>
        <p:nvSpPr>
          <p:cNvPr id="170" name="Google Shape;170;g2e0ec7b56cf_0_94"/>
          <p:cNvSpPr txBox="1"/>
          <p:nvPr/>
        </p:nvSpPr>
        <p:spPr>
          <a:xfrm>
            <a:off x="159982" y="3023750"/>
            <a:ext cx="366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pen Sans"/>
                <a:ea typeface="Open Sans"/>
                <a:cs typeface="Open Sans"/>
                <a:sym typeface="Open Sans"/>
              </a:rPr>
              <a:t>More smooth hiring</a:t>
            </a:r>
            <a:endParaRPr b="1" sz="1800">
              <a:solidFill>
                <a:schemeClr val="dk1"/>
              </a:solidFill>
              <a:latin typeface="Open Sans"/>
              <a:ea typeface="Open Sans"/>
              <a:cs typeface="Open Sans"/>
              <a:sym typeface="Open Sans"/>
            </a:endParaRPr>
          </a:p>
        </p:txBody>
      </p:sp>
      <p:sp>
        <p:nvSpPr>
          <p:cNvPr id="171" name="Google Shape;171;g2e0ec7b56cf_0_94"/>
          <p:cNvSpPr txBox="1"/>
          <p:nvPr/>
        </p:nvSpPr>
        <p:spPr>
          <a:xfrm>
            <a:off x="159982" y="3706600"/>
            <a:ext cx="366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pen Sans"/>
                <a:ea typeface="Open Sans"/>
                <a:cs typeface="Open Sans"/>
                <a:sym typeface="Open Sans"/>
              </a:rPr>
              <a:t>Speed of code</a:t>
            </a:r>
            <a:endParaRPr b="1" sz="18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e0ec7b56cf_0_113"/>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What are the challenges of using Java for low latency?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e0ec7b56cf_0_117"/>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Challenges of using Java</a:t>
            </a:r>
            <a:endParaRPr/>
          </a:p>
        </p:txBody>
      </p:sp>
      <p:sp>
        <p:nvSpPr>
          <p:cNvPr id="182" name="Google Shape;182;g2e0ec7b56cf_0_117"/>
          <p:cNvSpPr txBox="1"/>
          <p:nvPr>
            <p:ph idx="4294967295" type="body"/>
          </p:nvPr>
        </p:nvSpPr>
        <p:spPr>
          <a:xfrm>
            <a:off x="558625" y="840000"/>
            <a:ext cx="7908000" cy="29436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94736"/>
              <a:buNone/>
            </a:pPr>
            <a:r>
              <a:t/>
            </a:r>
            <a:endParaRPr sz="1900"/>
          </a:p>
          <a:p>
            <a:pPr indent="-340201" lvl="0" marL="457200" rtl="0" algn="l">
              <a:lnSpc>
                <a:spcPct val="115000"/>
              </a:lnSpc>
              <a:spcBef>
                <a:spcPts val="1200"/>
              </a:spcBef>
              <a:spcAft>
                <a:spcPts val="0"/>
              </a:spcAft>
              <a:buSzPct val="100000"/>
              <a:buChar char="●"/>
            </a:pPr>
            <a:r>
              <a:rPr lang="en" sz="1900"/>
              <a:t>Garbage collection</a:t>
            </a:r>
            <a:endParaRPr sz="1900"/>
          </a:p>
          <a:p>
            <a:pPr indent="-340201" lvl="0" marL="457200" rtl="0" algn="l">
              <a:lnSpc>
                <a:spcPct val="115000"/>
              </a:lnSpc>
              <a:spcBef>
                <a:spcPts val="1200"/>
              </a:spcBef>
              <a:spcAft>
                <a:spcPts val="0"/>
              </a:spcAft>
              <a:buSzPct val="100000"/>
              <a:buChar char="●"/>
            </a:pPr>
            <a:r>
              <a:rPr lang="en" sz="1900"/>
              <a:t>Warmup</a:t>
            </a:r>
            <a:endParaRPr sz="1900"/>
          </a:p>
          <a:p>
            <a:pPr indent="-340201" lvl="0" marL="457200" rtl="0" algn="l">
              <a:lnSpc>
                <a:spcPct val="115000"/>
              </a:lnSpc>
              <a:spcBef>
                <a:spcPts val="1200"/>
              </a:spcBef>
              <a:spcAft>
                <a:spcPts val="0"/>
              </a:spcAft>
              <a:buSzPct val="100000"/>
              <a:buChar char="●"/>
            </a:pPr>
            <a:r>
              <a:rPr lang="en" sz="1900"/>
              <a:t>Unpredictable compilation</a:t>
            </a:r>
            <a:endParaRPr sz="1900"/>
          </a:p>
          <a:p>
            <a:pPr indent="-340201" lvl="0" marL="457200" rtl="0" algn="l">
              <a:lnSpc>
                <a:spcPct val="115000"/>
              </a:lnSpc>
              <a:spcBef>
                <a:spcPts val="1200"/>
              </a:spcBef>
              <a:spcAft>
                <a:spcPts val="0"/>
              </a:spcAft>
              <a:buSzPct val="100000"/>
              <a:buChar char="●"/>
            </a:pPr>
            <a:r>
              <a:rPr lang="en" sz="1900"/>
              <a:t>Don't have control of the memory layout</a:t>
            </a:r>
            <a:endParaRPr sz="1900"/>
          </a:p>
          <a:p>
            <a:pPr indent="-340201" lvl="0" marL="457200" rtl="0" algn="l">
              <a:lnSpc>
                <a:spcPct val="115000"/>
              </a:lnSpc>
              <a:spcBef>
                <a:spcPts val="1200"/>
              </a:spcBef>
              <a:spcAft>
                <a:spcPts val="0"/>
              </a:spcAft>
              <a:buSzPct val="100000"/>
              <a:buChar char="●"/>
            </a:pPr>
            <a:r>
              <a:rPr lang="en" sz="1900"/>
              <a:t>Unsafe</a:t>
            </a:r>
            <a:endParaRPr sz="1900"/>
          </a:p>
          <a:p>
            <a:pPr indent="0" lvl="0" marL="0" rtl="0" algn="l">
              <a:lnSpc>
                <a:spcPct val="115000"/>
              </a:lnSpc>
              <a:spcBef>
                <a:spcPts val="1200"/>
              </a:spcBef>
              <a:spcAft>
                <a:spcPts val="0"/>
              </a:spcAft>
              <a:buNone/>
            </a:pPr>
            <a:r>
              <a:t/>
            </a:r>
            <a:endParaRPr sz="1900"/>
          </a:p>
        </p:txBody>
      </p:sp>
      <p:sp>
        <p:nvSpPr>
          <p:cNvPr id="183" name="Google Shape;183;g2e0ec7b56cf_0_117"/>
          <p:cNvSpPr txBox="1"/>
          <p:nvPr>
            <p:ph type="title"/>
          </p:nvPr>
        </p:nvSpPr>
        <p:spPr>
          <a:xfrm>
            <a:off x="906000" y="34380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Let's try to understand how to mitigate some of those challenges…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2e0ec7b56cf_0_132"/>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How JVM works (Phases &amp; Metaspace)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2e0ec7b56cf_0_126"/>
          <p:cNvSpPr txBox="1"/>
          <p:nvPr>
            <p:ph type="title"/>
          </p:nvPr>
        </p:nvSpPr>
        <p:spPr>
          <a:xfrm>
            <a:off x="311700" y="954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Just-in-Time Compilers: An Overview</a:t>
            </a:r>
            <a:endParaRPr/>
          </a:p>
        </p:txBody>
      </p:sp>
      <p:sp>
        <p:nvSpPr>
          <p:cNvPr id="194" name="Google Shape;194;g2e0ec7b56cf_0_126"/>
          <p:cNvSpPr txBox="1"/>
          <p:nvPr/>
        </p:nvSpPr>
        <p:spPr>
          <a:xfrm>
            <a:off x="264600" y="926750"/>
            <a:ext cx="8766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Java applications are compiled,but instead of being compiled into a specific binary for a specific CPU, they are compiled into an intermediate low-level language. This language (known as Java bytecode) is then run by the java binary.</a:t>
            </a:r>
            <a:endParaRPr sz="1800">
              <a:solidFill>
                <a:schemeClr val="dk1"/>
              </a:solidFill>
              <a:latin typeface="Open Sans"/>
              <a:ea typeface="Open Sans"/>
              <a:cs typeface="Open Sans"/>
              <a:sym typeface="Open Sans"/>
            </a:endParaRPr>
          </a:p>
        </p:txBody>
      </p:sp>
      <p:sp>
        <p:nvSpPr>
          <p:cNvPr id="195" name="Google Shape;195;g2e0ec7b56cf_0_126"/>
          <p:cNvSpPr/>
          <p:nvPr/>
        </p:nvSpPr>
        <p:spPr>
          <a:xfrm>
            <a:off x="388050" y="2601725"/>
            <a:ext cx="449700" cy="449700"/>
          </a:xfrm>
          <a:prstGeom prst="ellipse">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6" name="Google Shape;196;g2e0ec7b56cf_0_126"/>
          <p:cNvSpPr/>
          <p:nvPr/>
        </p:nvSpPr>
        <p:spPr>
          <a:xfrm>
            <a:off x="1508125" y="2513550"/>
            <a:ext cx="1587600" cy="6261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Interpreter</a:t>
            </a:r>
            <a:endParaRPr>
              <a:latin typeface="Open Sans"/>
              <a:ea typeface="Open Sans"/>
              <a:cs typeface="Open Sans"/>
              <a:sym typeface="Open Sans"/>
            </a:endParaRPr>
          </a:p>
        </p:txBody>
      </p:sp>
      <p:sp>
        <p:nvSpPr>
          <p:cNvPr id="197" name="Google Shape;197;g2e0ec7b56cf_0_126"/>
          <p:cNvSpPr/>
          <p:nvPr/>
        </p:nvSpPr>
        <p:spPr>
          <a:xfrm>
            <a:off x="4103500" y="2513525"/>
            <a:ext cx="1587600" cy="6261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C1</a:t>
            </a:r>
            <a:endParaRPr>
              <a:latin typeface="Open Sans"/>
              <a:ea typeface="Open Sans"/>
              <a:cs typeface="Open Sans"/>
              <a:sym typeface="Open Sans"/>
            </a:endParaRPr>
          </a:p>
        </p:txBody>
      </p:sp>
      <p:sp>
        <p:nvSpPr>
          <p:cNvPr id="198" name="Google Shape;198;g2e0ec7b56cf_0_126"/>
          <p:cNvSpPr/>
          <p:nvPr/>
        </p:nvSpPr>
        <p:spPr>
          <a:xfrm>
            <a:off x="6698875" y="2513550"/>
            <a:ext cx="1587600" cy="626100"/>
          </a:xfrm>
          <a:prstGeom prst="rect">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C2</a:t>
            </a:r>
            <a:endParaRPr>
              <a:latin typeface="Open Sans"/>
              <a:ea typeface="Open Sans"/>
              <a:cs typeface="Open Sans"/>
              <a:sym typeface="Open Sans"/>
            </a:endParaRPr>
          </a:p>
        </p:txBody>
      </p:sp>
      <p:sp>
        <p:nvSpPr>
          <p:cNvPr id="199" name="Google Shape;199;g2e0ec7b56cf_0_126"/>
          <p:cNvSpPr/>
          <p:nvPr/>
        </p:nvSpPr>
        <p:spPr>
          <a:xfrm>
            <a:off x="5758450" y="3836450"/>
            <a:ext cx="873000" cy="1058400"/>
          </a:xfrm>
          <a:prstGeom prst="can">
            <a:avLst>
              <a:gd fmla="val 25000" name="adj"/>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code cache</a:t>
            </a:r>
            <a:endParaRPr>
              <a:latin typeface="Open Sans"/>
              <a:ea typeface="Open Sans"/>
              <a:cs typeface="Open Sans"/>
              <a:sym typeface="Open Sans"/>
            </a:endParaRPr>
          </a:p>
        </p:txBody>
      </p:sp>
      <p:sp>
        <p:nvSpPr>
          <p:cNvPr id="200" name="Google Shape;200;g2e0ec7b56cf_0_126"/>
          <p:cNvSpPr/>
          <p:nvPr/>
        </p:nvSpPr>
        <p:spPr>
          <a:xfrm>
            <a:off x="2293050" y="4087850"/>
            <a:ext cx="1587600" cy="555600"/>
          </a:xfrm>
          <a:prstGeom prst="roundRect">
            <a:avLst>
              <a:gd fmla="val 16667" name="adj"/>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Deoptimization</a:t>
            </a:r>
            <a:endParaRPr>
              <a:latin typeface="Open Sans"/>
              <a:ea typeface="Open Sans"/>
              <a:cs typeface="Open Sans"/>
              <a:sym typeface="Open Sans"/>
            </a:endParaRPr>
          </a:p>
        </p:txBody>
      </p:sp>
      <p:cxnSp>
        <p:nvCxnSpPr>
          <p:cNvPr id="201" name="Google Shape;201;g2e0ec7b56cf_0_126"/>
          <p:cNvCxnSpPr>
            <a:stCxn id="195" idx="6"/>
            <a:endCxn id="196" idx="1"/>
          </p:cNvCxnSpPr>
          <p:nvPr/>
        </p:nvCxnSpPr>
        <p:spPr>
          <a:xfrm>
            <a:off x="837750" y="2826575"/>
            <a:ext cx="670500" cy="0"/>
          </a:xfrm>
          <a:prstGeom prst="straightConnector1">
            <a:avLst/>
          </a:prstGeom>
          <a:noFill/>
          <a:ln cap="flat" cmpd="sng" w="9525">
            <a:solidFill>
              <a:schemeClr val="dk2"/>
            </a:solidFill>
            <a:prstDash val="solid"/>
            <a:round/>
            <a:headEnd len="med" w="med" type="none"/>
            <a:tailEnd len="med" w="med" type="triangle"/>
          </a:ln>
        </p:spPr>
      </p:cxnSp>
      <p:cxnSp>
        <p:nvCxnSpPr>
          <p:cNvPr id="202" name="Google Shape;202;g2e0ec7b56cf_0_126"/>
          <p:cNvCxnSpPr>
            <a:stCxn id="196" idx="3"/>
            <a:endCxn id="197" idx="1"/>
          </p:cNvCxnSpPr>
          <p:nvPr/>
        </p:nvCxnSpPr>
        <p:spPr>
          <a:xfrm>
            <a:off x="3095725" y="2826600"/>
            <a:ext cx="1007700" cy="0"/>
          </a:xfrm>
          <a:prstGeom prst="straightConnector1">
            <a:avLst/>
          </a:prstGeom>
          <a:noFill/>
          <a:ln cap="flat" cmpd="sng" w="9525">
            <a:solidFill>
              <a:schemeClr val="dk2"/>
            </a:solidFill>
            <a:prstDash val="solid"/>
            <a:round/>
            <a:headEnd len="med" w="med" type="none"/>
            <a:tailEnd len="med" w="med" type="triangle"/>
          </a:ln>
        </p:spPr>
      </p:cxnSp>
      <p:cxnSp>
        <p:nvCxnSpPr>
          <p:cNvPr id="203" name="Google Shape;203;g2e0ec7b56cf_0_126"/>
          <p:cNvCxnSpPr>
            <a:stCxn id="197" idx="3"/>
            <a:endCxn id="198" idx="1"/>
          </p:cNvCxnSpPr>
          <p:nvPr/>
        </p:nvCxnSpPr>
        <p:spPr>
          <a:xfrm>
            <a:off x="5691100" y="2826575"/>
            <a:ext cx="1007700" cy="0"/>
          </a:xfrm>
          <a:prstGeom prst="straightConnector1">
            <a:avLst/>
          </a:prstGeom>
          <a:noFill/>
          <a:ln cap="flat" cmpd="sng" w="9525">
            <a:solidFill>
              <a:schemeClr val="dk2"/>
            </a:solidFill>
            <a:prstDash val="solid"/>
            <a:round/>
            <a:headEnd len="med" w="med" type="none"/>
            <a:tailEnd len="med" w="med" type="triangle"/>
          </a:ln>
        </p:spPr>
      </p:cxnSp>
      <p:cxnSp>
        <p:nvCxnSpPr>
          <p:cNvPr id="204" name="Google Shape;204;g2e0ec7b56cf_0_126"/>
          <p:cNvCxnSpPr>
            <a:stCxn id="198" idx="2"/>
            <a:endCxn id="199" idx="4"/>
          </p:cNvCxnSpPr>
          <p:nvPr/>
        </p:nvCxnSpPr>
        <p:spPr>
          <a:xfrm flipH="1">
            <a:off x="6631375" y="3139650"/>
            <a:ext cx="861300" cy="122610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g2e0ec7b56cf_0_126"/>
          <p:cNvCxnSpPr>
            <a:stCxn id="197" idx="2"/>
            <a:endCxn id="199" idx="2"/>
          </p:cNvCxnSpPr>
          <p:nvPr/>
        </p:nvCxnSpPr>
        <p:spPr>
          <a:xfrm>
            <a:off x="4897300" y="3139625"/>
            <a:ext cx="861300" cy="1226100"/>
          </a:xfrm>
          <a:prstGeom prst="straightConnector1">
            <a:avLst/>
          </a:prstGeom>
          <a:noFill/>
          <a:ln cap="flat" cmpd="sng" w="9525">
            <a:solidFill>
              <a:schemeClr val="dk2"/>
            </a:solidFill>
            <a:prstDash val="solid"/>
            <a:round/>
            <a:headEnd len="med" w="med" type="none"/>
            <a:tailEnd len="med" w="med" type="triangle"/>
          </a:ln>
        </p:spPr>
      </p:cxnSp>
      <p:cxnSp>
        <p:nvCxnSpPr>
          <p:cNvPr id="206" name="Google Shape;206;g2e0ec7b56cf_0_126"/>
          <p:cNvCxnSpPr>
            <a:stCxn id="199" idx="2"/>
            <a:endCxn id="200" idx="3"/>
          </p:cNvCxnSpPr>
          <p:nvPr/>
        </p:nvCxnSpPr>
        <p:spPr>
          <a:xfrm rot="10800000">
            <a:off x="3880750" y="4365650"/>
            <a:ext cx="1877700" cy="0"/>
          </a:xfrm>
          <a:prstGeom prst="straightConnector1">
            <a:avLst/>
          </a:prstGeom>
          <a:noFill/>
          <a:ln cap="flat" cmpd="sng" w="9525">
            <a:solidFill>
              <a:schemeClr val="dk2"/>
            </a:solidFill>
            <a:prstDash val="solid"/>
            <a:round/>
            <a:headEnd len="med" w="med" type="none"/>
            <a:tailEnd len="med" w="med" type="triangle"/>
          </a:ln>
        </p:spPr>
      </p:cxnSp>
      <p:cxnSp>
        <p:nvCxnSpPr>
          <p:cNvPr id="207" name="Google Shape;207;g2e0ec7b56cf_0_126"/>
          <p:cNvCxnSpPr>
            <a:stCxn id="200" idx="0"/>
            <a:endCxn id="196" idx="2"/>
          </p:cNvCxnSpPr>
          <p:nvPr/>
        </p:nvCxnSpPr>
        <p:spPr>
          <a:xfrm rot="10800000">
            <a:off x="2302050" y="3139550"/>
            <a:ext cx="784800" cy="948300"/>
          </a:xfrm>
          <a:prstGeom prst="straightConnector1">
            <a:avLst/>
          </a:prstGeom>
          <a:noFill/>
          <a:ln cap="flat" cmpd="sng" w="9525">
            <a:solidFill>
              <a:schemeClr val="dk2"/>
            </a:solidFill>
            <a:prstDash val="solid"/>
            <a:round/>
            <a:headEnd len="med" w="med" type="none"/>
            <a:tailEnd len="med" w="med" type="triangle"/>
          </a:ln>
        </p:spPr>
      </p:cxnSp>
      <p:sp>
        <p:nvSpPr>
          <p:cNvPr id="208" name="Google Shape;208;g2e0ec7b56cf_0_126"/>
          <p:cNvSpPr/>
          <p:nvPr/>
        </p:nvSpPr>
        <p:spPr>
          <a:xfrm>
            <a:off x="2592900" y="2316200"/>
            <a:ext cx="776100" cy="4497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profiling</a:t>
            </a:r>
            <a:endParaRPr sz="1100">
              <a:latin typeface="Open Sans"/>
              <a:ea typeface="Open Sans"/>
              <a:cs typeface="Open Sans"/>
              <a:sym typeface="Open Sans"/>
            </a:endParaRPr>
          </a:p>
        </p:txBody>
      </p:sp>
      <p:sp>
        <p:nvSpPr>
          <p:cNvPr id="209" name="Google Shape;209;g2e0ec7b56cf_0_126"/>
          <p:cNvSpPr/>
          <p:nvPr/>
        </p:nvSpPr>
        <p:spPr>
          <a:xfrm>
            <a:off x="5294125" y="2376875"/>
            <a:ext cx="776100" cy="4497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Open Sans"/>
                <a:ea typeface="Open Sans"/>
                <a:cs typeface="Open Sans"/>
                <a:sym typeface="Open Sans"/>
              </a:rPr>
              <a:t>profiling</a:t>
            </a:r>
            <a:endParaRPr sz="1100">
              <a:latin typeface="Open Sans"/>
              <a:ea typeface="Open Sans"/>
              <a:cs typeface="Open Sans"/>
              <a:sym typeface="Open Sans"/>
            </a:endParaRPr>
          </a:p>
        </p:txBody>
      </p:sp>
      <p:sp>
        <p:nvSpPr>
          <p:cNvPr id="210" name="Google Shape;210;g2e0ec7b56cf_0_126"/>
          <p:cNvSpPr txBox="1"/>
          <p:nvPr/>
        </p:nvSpPr>
        <p:spPr>
          <a:xfrm>
            <a:off x="3095725" y="2902800"/>
            <a:ext cx="1091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Open Sans"/>
                <a:ea typeface="Open Sans"/>
                <a:cs typeface="Open Sans"/>
                <a:sym typeface="Open Sans"/>
              </a:rPr>
              <a:t>Generate code</a:t>
            </a:r>
            <a:endParaRPr sz="800">
              <a:solidFill>
                <a:schemeClr val="dk1"/>
              </a:solidFill>
              <a:latin typeface="Open Sans"/>
              <a:ea typeface="Open Sans"/>
              <a:cs typeface="Open Sans"/>
              <a:sym typeface="Open Sans"/>
            </a:endParaRPr>
          </a:p>
          <a:p>
            <a:pPr indent="0" lvl="0" marL="0" rtl="0" algn="ctr">
              <a:spcBef>
                <a:spcPts val="0"/>
              </a:spcBef>
              <a:spcAft>
                <a:spcPts val="0"/>
              </a:spcAft>
              <a:buNone/>
            </a:pPr>
            <a:r>
              <a:rPr lang="en" sz="800">
                <a:solidFill>
                  <a:schemeClr val="dk1"/>
                </a:solidFill>
                <a:latin typeface="Open Sans"/>
                <a:ea typeface="Open Sans"/>
                <a:cs typeface="Open Sans"/>
                <a:sym typeface="Open Sans"/>
              </a:rPr>
              <a:t> quickly</a:t>
            </a:r>
            <a:endParaRPr sz="800">
              <a:solidFill>
                <a:schemeClr val="dk1"/>
              </a:solidFill>
              <a:latin typeface="Open Sans"/>
              <a:ea typeface="Open Sans"/>
              <a:cs typeface="Open Sans"/>
              <a:sym typeface="Open Sans"/>
            </a:endParaRPr>
          </a:p>
        </p:txBody>
      </p:sp>
      <p:sp>
        <p:nvSpPr>
          <p:cNvPr id="211" name="Google Shape;211;g2e0ec7b56cf_0_126"/>
          <p:cNvSpPr txBox="1"/>
          <p:nvPr/>
        </p:nvSpPr>
        <p:spPr>
          <a:xfrm>
            <a:off x="5649100" y="2918300"/>
            <a:ext cx="1091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Open Sans"/>
                <a:ea typeface="Open Sans"/>
                <a:cs typeface="Open Sans"/>
                <a:sym typeface="Open Sans"/>
              </a:rPr>
              <a:t>Generate highly optimized code</a:t>
            </a:r>
            <a:endParaRPr sz="800">
              <a:solidFill>
                <a:schemeClr val="dk1"/>
              </a:solidFill>
              <a:latin typeface="Open Sans"/>
              <a:ea typeface="Open Sans"/>
              <a:cs typeface="Open Sans"/>
              <a:sym typeface="Open Sans"/>
            </a:endParaRPr>
          </a:p>
        </p:txBody>
      </p:sp>
      <p:sp>
        <p:nvSpPr>
          <p:cNvPr id="212" name="Google Shape;212;g2e0ec7b56cf_0_126"/>
          <p:cNvSpPr txBox="1"/>
          <p:nvPr/>
        </p:nvSpPr>
        <p:spPr>
          <a:xfrm>
            <a:off x="4187425" y="4365650"/>
            <a:ext cx="1091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Open Sans"/>
                <a:ea typeface="Open Sans"/>
                <a:cs typeface="Open Sans"/>
                <a:sym typeface="Open Sans"/>
              </a:rPr>
              <a:t>Deoptimize compiled code</a:t>
            </a:r>
            <a:endParaRPr sz="800">
              <a:solidFill>
                <a:schemeClr val="dk1"/>
              </a:solidFill>
              <a:latin typeface="Open Sans"/>
              <a:ea typeface="Open Sans"/>
              <a:cs typeface="Open Sans"/>
              <a:sym typeface="Open Sans"/>
            </a:endParaRPr>
          </a:p>
        </p:txBody>
      </p:sp>
      <p:sp>
        <p:nvSpPr>
          <p:cNvPr id="213" name="Google Shape;213;g2e0ec7b56cf_0_126"/>
          <p:cNvSpPr txBox="1"/>
          <p:nvPr/>
        </p:nvSpPr>
        <p:spPr>
          <a:xfrm>
            <a:off x="1508250" y="3459725"/>
            <a:ext cx="1091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Open Sans"/>
                <a:ea typeface="Open Sans"/>
                <a:cs typeface="Open Sans"/>
                <a:sym typeface="Open Sans"/>
              </a:rPr>
              <a:t>Interpreter</a:t>
            </a:r>
            <a:r>
              <a:rPr lang="en" sz="800">
                <a:solidFill>
                  <a:schemeClr val="dk1"/>
                </a:solidFill>
                <a:latin typeface="Open Sans"/>
                <a:ea typeface="Open Sans"/>
                <a:cs typeface="Open Sans"/>
                <a:sym typeface="Open Sans"/>
              </a:rPr>
              <a:t> and profile</a:t>
            </a:r>
            <a:endParaRPr sz="800">
              <a:solidFill>
                <a:schemeClr val="dk1"/>
              </a:solidFill>
              <a:latin typeface="Open Sans"/>
              <a:ea typeface="Open Sans"/>
              <a:cs typeface="Open Sans"/>
              <a:sym typeface="Open Sans"/>
            </a:endParaRPr>
          </a:p>
        </p:txBody>
      </p:sp>
      <p:sp>
        <p:nvSpPr>
          <p:cNvPr id="214" name="Google Shape;214;g2e0ec7b56cf_0_126"/>
          <p:cNvSpPr txBox="1"/>
          <p:nvPr/>
        </p:nvSpPr>
        <p:spPr>
          <a:xfrm>
            <a:off x="4351450" y="3596125"/>
            <a:ext cx="1091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Open Sans"/>
                <a:ea typeface="Open Sans"/>
                <a:cs typeface="Open Sans"/>
                <a:sym typeface="Open Sans"/>
              </a:rPr>
              <a:t>Save </a:t>
            </a:r>
            <a:r>
              <a:rPr lang="en" sz="800">
                <a:solidFill>
                  <a:schemeClr val="dk1"/>
                </a:solidFill>
                <a:latin typeface="Open Sans"/>
                <a:ea typeface="Open Sans"/>
                <a:cs typeface="Open Sans"/>
                <a:sym typeface="Open Sans"/>
              </a:rPr>
              <a:t>compiled</a:t>
            </a:r>
            <a:r>
              <a:rPr lang="en" sz="800">
                <a:solidFill>
                  <a:schemeClr val="dk1"/>
                </a:solidFill>
                <a:latin typeface="Open Sans"/>
                <a:ea typeface="Open Sans"/>
                <a:cs typeface="Open Sans"/>
                <a:sym typeface="Open Sans"/>
              </a:rPr>
              <a:t> </a:t>
            </a:r>
            <a:endParaRPr sz="800">
              <a:solidFill>
                <a:schemeClr val="dk1"/>
              </a:solidFill>
              <a:latin typeface="Open Sans"/>
              <a:ea typeface="Open Sans"/>
              <a:cs typeface="Open Sans"/>
              <a:sym typeface="Open Sans"/>
            </a:endParaRPr>
          </a:p>
          <a:p>
            <a:pPr indent="0" lvl="0" marL="0" rtl="0" algn="ctr">
              <a:spcBef>
                <a:spcPts val="0"/>
              </a:spcBef>
              <a:spcAft>
                <a:spcPts val="0"/>
              </a:spcAft>
              <a:buNone/>
            </a:pPr>
            <a:r>
              <a:rPr lang="en" sz="800">
                <a:solidFill>
                  <a:schemeClr val="dk1"/>
                </a:solidFill>
                <a:latin typeface="Open Sans"/>
                <a:ea typeface="Open Sans"/>
                <a:cs typeface="Open Sans"/>
                <a:sym typeface="Open Sans"/>
              </a:rPr>
              <a:t>code</a:t>
            </a:r>
            <a:endParaRPr sz="800">
              <a:solidFill>
                <a:schemeClr val="dk1"/>
              </a:solidFill>
              <a:latin typeface="Open Sans"/>
              <a:ea typeface="Open Sans"/>
              <a:cs typeface="Open Sans"/>
              <a:sym typeface="Open Sans"/>
            </a:endParaRPr>
          </a:p>
        </p:txBody>
      </p:sp>
      <p:sp>
        <p:nvSpPr>
          <p:cNvPr id="215" name="Google Shape;215;g2e0ec7b56cf_0_126"/>
          <p:cNvSpPr txBox="1"/>
          <p:nvPr/>
        </p:nvSpPr>
        <p:spPr>
          <a:xfrm>
            <a:off x="7003975" y="3656750"/>
            <a:ext cx="1091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Open Sans"/>
                <a:ea typeface="Open Sans"/>
                <a:cs typeface="Open Sans"/>
                <a:sym typeface="Open Sans"/>
              </a:rPr>
              <a:t>Save compiled </a:t>
            </a:r>
            <a:endParaRPr sz="800">
              <a:solidFill>
                <a:schemeClr val="dk1"/>
              </a:solidFill>
              <a:latin typeface="Open Sans"/>
              <a:ea typeface="Open Sans"/>
              <a:cs typeface="Open Sans"/>
              <a:sym typeface="Open Sans"/>
            </a:endParaRPr>
          </a:p>
          <a:p>
            <a:pPr indent="0" lvl="0" marL="0" rtl="0" algn="ctr">
              <a:spcBef>
                <a:spcPts val="0"/>
              </a:spcBef>
              <a:spcAft>
                <a:spcPts val="0"/>
              </a:spcAft>
              <a:buNone/>
            </a:pPr>
            <a:r>
              <a:rPr lang="en" sz="800">
                <a:solidFill>
                  <a:schemeClr val="dk1"/>
                </a:solidFill>
                <a:latin typeface="Open Sans"/>
                <a:ea typeface="Open Sans"/>
                <a:cs typeface="Open Sans"/>
                <a:sym typeface="Open Sans"/>
              </a:rPr>
              <a:t>code</a:t>
            </a:r>
            <a:endParaRPr sz="8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g2e0ec7b56cf_0_158"/>
          <p:cNvPicPr preferRelativeResize="0"/>
          <p:nvPr/>
        </p:nvPicPr>
        <p:blipFill>
          <a:blip r:embed="rId3">
            <a:alphaModFix/>
          </a:blip>
          <a:stretch>
            <a:fillRect/>
          </a:stretch>
        </p:blipFill>
        <p:spPr>
          <a:xfrm>
            <a:off x="152400" y="706625"/>
            <a:ext cx="8839196" cy="490076"/>
          </a:xfrm>
          <a:prstGeom prst="rect">
            <a:avLst/>
          </a:prstGeom>
          <a:noFill/>
          <a:ln>
            <a:noFill/>
          </a:ln>
        </p:spPr>
      </p:pic>
      <p:sp>
        <p:nvSpPr>
          <p:cNvPr id="221" name="Google Shape;221;g2e0ec7b56cf_0_158"/>
          <p:cNvSpPr txBox="1"/>
          <p:nvPr>
            <p:ph type="title"/>
          </p:nvPr>
        </p:nvSpPr>
        <p:spPr>
          <a:xfrm>
            <a:off x="773700" y="143460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Are there any problems here?</a:t>
            </a:r>
            <a:endParaRPr/>
          </a:p>
        </p:txBody>
      </p:sp>
      <p:sp>
        <p:nvSpPr>
          <p:cNvPr id="222" name="Google Shape;222;g2e0ec7b56cf_0_158"/>
          <p:cNvSpPr/>
          <p:nvPr/>
        </p:nvSpPr>
        <p:spPr>
          <a:xfrm rot="-1237">
            <a:off x="2092599" y="1365478"/>
            <a:ext cx="1667100" cy="4902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string concatenation</a:t>
            </a:r>
            <a:endParaRPr>
              <a:latin typeface="Open Sans"/>
              <a:ea typeface="Open Sans"/>
              <a:cs typeface="Open Sans"/>
              <a:sym typeface="Open Sans"/>
            </a:endParaRPr>
          </a:p>
        </p:txBody>
      </p:sp>
      <p:sp>
        <p:nvSpPr>
          <p:cNvPr id="223" name="Google Shape;223;g2e0ec7b56cf_0_158"/>
          <p:cNvSpPr/>
          <p:nvPr/>
        </p:nvSpPr>
        <p:spPr>
          <a:xfrm rot="-1696">
            <a:off x="4229266" y="1365167"/>
            <a:ext cx="3040500" cy="4902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getNumberOfParticipants invocations</a:t>
            </a:r>
            <a:endParaRPr>
              <a:latin typeface="Open Sans"/>
              <a:ea typeface="Open Sans"/>
              <a:cs typeface="Open Sans"/>
              <a:sym typeface="Open Sans"/>
            </a:endParaRPr>
          </a:p>
        </p:txBody>
      </p:sp>
      <p:pic>
        <p:nvPicPr>
          <p:cNvPr id="224" name="Google Shape;224;g2e0ec7b56cf_0_158"/>
          <p:cNvPicPr preferRelativeResize="0"/>
          <p:nvPr/>
        </p:nvPicPr>
        <p:blipFill>
          <a:blip r:embed="rId4">
            <a:alphaModFix/>
          </a:blip>
          <a:stretch>
            <a:fillRect/>
          </a:stretch>
        </p:blipFill>
        <p:spPr>
          <a:xfrm>
            <a:off x="152400" y="2826550"/>
            <a:ext cx="8839204" cy="8632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e0ec7b56cf_0_192"/>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Registers and Main Memory</a:t>
            </a:r>
            <a:endParaRPr/>
          </a:p>
        </p:txBody>
      </p:sp>
      <p:pic>
        <p:nvPicPr>
          <p:cNvPr id="230" name="Google Shape;230;g2e0ec7b56cf_0_192"/>
          <p:cNvPicPr preferRelativeResize="0"/>
          <p:nvPr/>
        </p:nvPicPr>
        <p:blipFill rotWithShape="1">
          <a:blip r:embed="rId3">
            <a:alphaModFix/>
          </a:blip>
          <a:srcRect b="8990" l="3780" r="-3780" t="-8990"/>
          <a:stretch/>
        </p:blipFill>
        <p:spPr>
          <a:xfrm>
            <a:off x="275875" y="1958050"/>
            <a:ext cx="4671824" cy="2256925"/>
          </a:xfrm>
          <a:prstGeom prst="rect">
            <a:avLst/>
          </a:prstGeom>
          <a:noFill/>
          <a:ln>
            <a:noFill/>
          </a:ln>
        </p:spPr>
      </p:pic>
      <p:sp>
        <p:nvSpPr>
          <p:cNvPr id="231" name="Google Shape;231;g2e0ec7b56cf_0_192"/>
          <p:cNvSpPr txBox="1"/>
          <p:nvPr/>
        </p:nvSpPr>
        <p:spPr>
          <a:xfrm>
            <a:off x="162300" y="978975"/>
            <a:ext cx="8819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One of the most important optimizations a compiler can make involves when to use values from main memory and when to store values in a register. Consider this code:</a:t>
            </a:r>
            <a:endParaRPr sz="1800">
              <a:solidFill>
                <a:schemeClr val="dk1"/>
              </a:solidFill>
              <a:latin typeface="Open Sans"/>
              <a:ea typeface="Open Sans"/>
              <a:cs typeface="Open Sans"/>
              <a:sym typeface="Open Sans"/>
            </a:endParaRPr>
          </a:p>
        </p:txBody>
      </p:sp>
      <p:pic>
        <p:nvPicPr>
          <p:cNvPr id="232" name="Google Shape;232;g2e0ec7b56cf_0_192"/>
          <p:cNvPicPr preferRelativeResize="0"/>
          <p:nvPr/>
        </p:nvPicPr>
        <p:blipFill>
          <a:blip r:embed="rId4">
            <a:alphaModFix/>
          </a:blip>
          <a:stretch>
            <a:fillRect/>
          </a:stretch>
        </p:blipFill>
        <p:spPr>
          <a:xfrm>
            <a:off x="5100099" y="2147175"/>
            <a:ext cx="3891502" cy="201795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2e0ec7b56cf_0_206"/>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Java’s Memory Model — Heap, Stack, and Metaspace</a:t>
            </a:r>
            <a:endParaRPr/>
          </a:p>
        </p:txBody>
      </p:sp>
      <p:sp>
        <p:nvSpPr>
          <p:cNvPr id="238" name="Google Shape;238;g2e0ec7b56cf_0_206"/>
          <p:cNvSpPr/>
          <p:nvPr/>
        </p:nvSpPr>
        <p:spPr>
          <a:xfrm>
            <a:off x="388050" y="1340550"/>
            <a:ext cx="8572500" cy="20727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9" name="Google Shape;239;g2e0ec7b56cf_0_206"/>
          <p:cNvSpPr/>
          <p:nvPr/>
        </p:nvSpPr>
        <p:spPr>
          <a:xfrm>
            <a:off x="529175" y="1727900"/>
            <a:ext cx="3289800" cy="1419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0" name="Google Shape;240;g2e0ec7b56cf_0_206"/>
          <p:cNvSpPr/>
          <p:nvPr/>
        </p:nvSpPr>
        <p:spPr>
          <a:xfrm>
            <a:off x="4153950" y="1749900"/>
            <a:ext cx="4638900" cy="1419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1" name="Google Shape;241;g2e0ec7b56cf_0_206"/>
          <p:cNvSpPr txBox="1"/>
          <p:nvPr/>
        </p:nvSpPr>
        <p:spPr>
          <a:xfrm>
            <a:off x="529175" y="1340550"/>
            <a:ext cx="78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pen Sans"/>
                <a:ea typeface="Open Sans"/>
                <a:cs typeface="Open Sans"/>
                <a:sym typeface="Open Sans"/>
              </a:rPr>
              <a:t>Heap</a:t>
            </a:r>
            <a:endParaRPr b="1" sz="1800">
              <a:solidFill>
                <a:schemeClr val="dk1"/>
              </a:solidFill>
              <a:latin typeface="Open Sans"/>
              <a:ea typeface="Open Sans"/>
              <a:cs typeface="Open Sans"/>
              <a:sym typeface="Open Sans"/>
            </a:endParaRPr>
          </a:p>
        </p:txBody>
      </p:sp>
      <p:sp>
        <p:nvSpPr>
          <p:cNvPr id="242" name="Google Shape;242;g2e0ec7b56cf_0_206"/>
          <p:cNvSpPr txBox="1"/>
          <p:nvPr/>
        </p:nvSpPr>
        <p:spPr>
          <a:xfrm>
            <a:off x="4359275" y="1340550"/>
            <a:ext cx="160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pen Sans"/>
                <a:ea typeface="Open Sans"/>
                <a:cs typeface="Open Sans"/>
                <a:sym typeface="Open Sans"/>
              </a:rPr>
              <a:t>Non Heap</a:t>
            </a:r>
            <a:endParaRPr b="1" sz="1800">
              <a:solidFill>
                <a:schemeClr val="dk1"/>
              </a:solidFill>
              <a:latin typeface="Open Sans"/>
              <a:ea typeface="Open Sans"/>
              <a:cs typeface="Open Sans"/>
              <a:sym typeface="Open Sans"/>
            </a:endParaRPr>
          </a:p>
        </p:txBody>
      </p:sp>
      <p:sp>
        <p:nvSpPr>
          <p:cNvPr id="243" name="Google Shape;243;g2e0ec7b56cf_0_206"/>
          <p:cNvSpPr/>
          <p:nvPr/>
        </p:nvSpPr>
        <p:spPr>
          <a:xfrm>
            <a:off x="573275" y="1781525"/>
            <a:ext cx="2037300" cy="129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4" name="Google Shape;244;g2e0ec7b56cf_0_206"/>
          <p:cNvSpPr/>
          <p:nvPr/>
        </p:nvSpPr>
        <p:spPr>
          <a:xfrm>
            <a:off x="643775" y="1869050"/>
            <a:ext cx="555600" cy="1137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Open Sans"/>
                <a:ea typeface="Open Sans"/>
                <a:cs typeface="Open Sans"/>
                <a:sym typeface="Open Sans"/>
              </a:rPr>
              <a:t>Eden</a:t>
            </a:r>
            <a:endParaRPr sz="1200">
              <a:latin typeface="Open Sans"/>
              <a:ea typeface="Open Sans"/>
              <a:cs typeface="Open Sans"/>
              <a:sym typeface="Open Sans"/>
            </a:endParaRPr>
          </a:p>
        </p:txBody>
      </p:sp>
      <p:sp>
        <p:nvSpPr>
          <p:cNvPr id="245" name="Google Shape;245;g2e0ec7b56cf_0_206"/>
          <p:cNvSpPr/>
          <p:nvPr/>
        </p:nvSpPr>
        <p:spPr>
          <a:xfrm>
            <a:off x="1313975" y="1869050"/>
            <a:ext cx="555600" cy="1137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Open Sans"/>
                <a:ea typeface="Open Sans"/>
                <a:cs typeface="Open Sans"/>
                <a:sym typeface="Open Sans"/>
              </a:rPr>
              <a:t>Survivor</a:t>
            </a:r>
            <a:endParaRPr sz="1200">
              <a:latin typeface="Open Sans"/>
              <a:ea typeface="Open Sans"/>
              <a:cs typeface="Open Sans"/>
              <a:sym typeface="Open Sans"/>
            </a:endParaRPr>
          </a:p>
        </p:txBody>
      </p:sp>
      <p:sp>
        <p:nvSpPr>
          <p:cNvPr id="246" name="Google Shape;246;g2e0ec7b56cf_0_206"/>
          <p:cNvSpPr/>
          <p:nvPr/>
        </p:nvSpPr>
        <p:spPr>
          <a:xfrm>
            <a:off x="1984175" y="1869050"/>
            <a:ext cx="555600" cy="1137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Open Sans"/>
                <a:ea typeface="Open Sans"/>
                <a:cs typeface="Open Sans"/>
                <a:sym typeface="Open Sans"/>
              </a:rPr>
              <a:t>Survivor</a:t>
            </a:r>
            <a:endParaRPr sz="1200">
              <a:latin typeface="Open Sans"/>
              <a:ea typeface="Open Sans"/>
              <a:cs typeface="Open Sans"/>
              <a:sym typeface="Open Sans"/>
            </a:endParaRPr>
          </a:p>
        </p:txBody>
      </p:sp>
      <p:sp>
        <p:nvSpPr>
          <p:cNvPr id="247" name="Google Shape;247;g2e0ec7b56cf_0_206"/>
          <p:cNvSpPr/>
          <p:nvPr/>
        </p:nvSpPr>
        <p:spPr>
          <a:xfrm>
            <a:off x="2654375" y="1869050"/>
            <a:ext cx="1067100" cy="11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Open Sans"/>
                <a:ea typeface="Open Sans"/>
                <a:cs typeface="Open Sans"/>
                <a:sym typeface="Open Sans"/>
              </a:rPr>
              <a:t>Old Generation</a:t>
            </a:r>
            <a:endParaRPr sz="1300">
              <a:latin typeface="Open Sans"/>
              <a:ea typeface="Open Sans"/>
              <a:cs typeface="Open Sans"/>
              <a:sym typeface="Open Sans"/>
            </a:endParaRPr>
          </a:p>
        </p:txBody>
      </p:sp>
      <p:sp>
        <p:nvSpPr>
          <p:cNvPr id="248" name="Google Shape;248;g2e0ec7b56cf_0_206"/>
          <p:cNvSpPr txBox="1"/>
          <p:nvPr/>
        </p:nvSpPr>
        <p:spPr>
          <a:xfrm>
            <a:off x="846725" y="2708525"/>
            <a:ext cx="164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Young Generation</a:t>
            </a:r>
            <a:endParaRPr b="1" sz="1200">
              <a:solidFill>
                <a:schemeClr val="dk1"/>
              </a:solidFill>
              <a:latin typeface="Open Sans"/>
              <a:ea typeface="Open Sans"/>
              <a:cs typeface="Open Sans"/>
              <a:sym typeface="Open Sans"/>
            </a:endParaRPr>
          </a:p>
        </p:txBody>
      </p:sp>
      <p:sp>
        <p:nvSpPr>
          <p:cNvPr id="249" name="Google Shape;249;g2e0ec7b56cf_0_206"/>
          <p:cNvSpPr/>
          <p:nvPr/>
        </p:nvSpPr>
        <p:spPr>
          <a:xfrm>
            <a:off x="4270800" y="1860875"/>
            <a:ext cx="1067100" cy="11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Open Sans"/>
                <a:ea typeface="Open Sans"/>
                <a:cs typeface="Open Sans"/>
                <a:sym typeface="Open Sans"/>
              </a:rPr>
              <a:t>Metadata</a:t>
            </a:r>
            <a:endParaRPr sz="1300">
              <a:latin typeface="Open Sans"/>
              <a:ea typeface="Open Sans"/>
              <a:cs typeface="Open Sans"/>
              <a:sym typeface="Open Sans"/>
            </a:endParaRPr>
          </a:p>
        </p:txBody>
      </p:sp>
      <p:sp>
        <p:nvSpPr>
          <p:cNvPr id="250" name="Google Shape;250;g2e0ec7b56cf_0_206"/>
          <p:cNvSpPr/>
          <p:nvPr/>
        </p:nvSpPr>
        <p:spPr>
          <a:xfrm>
            <a:off x="5605025" y="1860875"/>
            <a:ext cx="1067100" cy="11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Open Sans"/>
                <a:ea typeface="Open Sans"/>
                <a:cs typeface="Open Sans"/>
                <a:sym typeface="Open Sans"/>
              </a:rPr>
              <a:t>Threads</a:t>
            </a:r>
            <a:endParaRPr sz="1300">
              <a:latin typeface="Open Sans"/>
              <a:ea typeface="Open Sans"/>
              <a:cs typeface="Open Sans"/>
              <a:sym typeface="Open Sans"/>
            </a:endParaRPr>
          </a:p>
        </p:txBody>
      </p:sp>
      <p:sp>
        <p:nvSpPr>
          <p:cNvPr id="251" name="Google Shape;251;g2e0ec7b56cf_0_206"/>
          <p:cNvSpPr/>
          <p:nvPr/>
        </p:nvSpPr>
        <p:spPr>
          <a:xfrm>
            <a:off x="6939250" y="1860875"/>
            <a:ext cx="707100" cy="11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Open Sans"/>
                <a:ea typeface="Open Sans"/>
                <a:cs typeface="Open Sans"/>
                <a:sym typeface="Open Sans"/>
              </a:rPr>
              <a:t>Code</a:t>
            </a:r>
            <a:endParaRPr sz="1300">
              <a:latin typeface="Open Sans"/>
              <a:ea typeface="Open Sans"/>
              <a:cs typeface="Open Sans"/>
              <a:sym typeface="Open Sans"/>
            </a:endParaRPr>
          </a:p>
          <a:p>
            <a:pPr indent="0" lvl="0" marL="0" rtl="0" algn="ctr">
              <a:spcBef>
                <a:spcPts val="0"/>
              </a:spcBef>
              <a:spcAft>
                <a:spcPts val="0"/>
              </a:spcAft>
              <a:buNone/>
            </a:pPr>
            <a:r>
              <a:rPr lang="en" sz="1300">
                <a:latin typeface="Open Sans"/>
                <a:ea typeface="Open Sans"/>
                <a:cs typeface="Open Sans"/>
                <a:sym typeface="Open Sans"/>
              </a:rPr>
              <a:t>Cache</a:t>
            </a:r>
            <a:endParaRPr sz="1300">
              <a:latin typeface="Open Sans"/>
              <a:ea typeface="Open Sans"/>
              <a:cs typeface="Open Sans"/>
              <a:sym typeface="Open Sans"/>
            </a:endParaRPr>
          </a:p>
        </p:txBody>
      </p:sp>
      <p:sp>
        <p:nvSpPr>
          <p:cNvPr id="252" name="Google Shape;252;g2e0ec7b56cf_0_206"/>
          <p:cNvSpPr/>
          <p:nvPr/>
        </p:nvSpPr>
        <p:spPr>
          <a:xfrm>
            <a:off x="7903025" y="1860875"/>
            <a:ext cx="707100" cy="11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Open Sans"/>
                <a:ea typeface="Open Sans"/>
                <a:cs typeface="Open Sans"/>
                <a:sym typeface="Open Sans"/>
              </a:rPr>
              <a:t>GC</a:t>
            </a:r>
            <a:endParaRPr sz="1300">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2e0ec7b56cf_0_234"/>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Heap Memory Best Practices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2e0ec7b56cf_0_238"/>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Using Less Memory</a:t>
            </a:r>
            <a:endParaRPr/>
          </a:p>
        </p:txBody>
      </p:sp>
      <p:sp>
        <p:nvSpPr>
          <p:cNvPr id="263" name="Google Shape;263;g2e0ec7b56cf_0_238"/>
          <p:cNvSpPr txBox="1"/>
          <p:nvPr/>
        </p:nvSpPr>
        <p:spPr>
          <a:xfrm>
            <a:off x="70550" y="1067850"/>
            <a:ext cx="48861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The first approach to using memory more efficiently in Java is to use less heap memory. That statement should be unsurprising: using less memory means the heap will fill up less often, requiring fewer GC cycles. The effect can multiply: fewer collections of the young generation means the tenuring age of an object is increased less often meaning that the object is less likely to be promoted into the old generation.</a:t>
            </a:r>
            <a:endParaRPr sz="1800">
              <a:solidFill>
                <a:schemeClr val="dk1"/>
              </a:solidFill>
              <a:latin typeface="Open Sans"/>
              <a:ea typeface="Open Sans"/>
              <a:cs typeface="Open Sans"/>
              <a:sym typeface="Open Sans"/>
            </a:endParaRPr>
          </a:p>
        </p:txBody>
      </p:sp>
      <p:pic>
        <p:nvPicPr>
          <p:cNvPr id="264" name="Google Shape;264;g2e0ec7b56cf_0_238"/>
          <p:cNvPicPr preferRelativeResize="0"/>
          <p:nvPr/>
        </p:nvPicPr>
        <p:blipFill>
          <a:blip r:embed="rId3">
            <a:alphaModFix/>
          </a:blip>
          <a:stretch>
            <a:fillRect/>
          </a:stretch>
        </p:blipFill>
        <p:spPr>
          <a:xfrm>
            <a:off x="5073650" y="1301750"/>
            <a:ext cx="3908375" cy="2455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e0ec7b56cf_0_259"/>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Reducing Object Size</a:t>
            </a:r>
            <a:endParaRPr/>
          </a:p>
        </p:txBody>
      </p:sp>
      <p:graphicFrame>
        <p:nvGraphicFramePr>
          <p:cNvPr id="270" name="Google Shape;270;g2e0ec7b56cf_0_259"/>
          <p:cNvGraphicFramePr/>
          <p:nvPr/>
        </p:nvGraphicFramePr>
        <p:xfrm>
          <a:off x="370425" y="1132400"/>
          <a:ext cx="3000000" cy="3000000"/>
        </p:xfrm>
        <a:graphic>
          <a:graphicData uri="http://schemas.openxmlformats.org/drawingml/2006/table">
            <a:tbl>
              <a:tblPr>
                <a:noFill/>
                <a:tableStyleId>{0B91BEBA-2AAA-4C2D-8CCD-B3C21EAB6E16}</a:tableStyleId>
              </a:tblPr>
              <a:tblGrid>
                <a:gridCol w="1392625"/>
                <a:gridCol w="1392625"/>
              </a:tblGrid>
              <a:tr h="381000">
                <a:tc>
                  <a:txBody>
                    <a:bodyPr/>
                    <a:lstStyle/>
                    <a:p>
                      <a:pPr indent="0" lvl="0" marL="0" rtl="0" algn="l">
                        <a:spcBef>
                          <a:spcPts val="0"/>
                        </a:spcBef>
                        <a:spcAft>
                          <a:spcPts val="0"/>
                        </a:spcAft>
                        <a:buNone/>
                      </a:pPr>
                      <a:r>
                        <a:rPr b="1" lang="en"/>
                        <a:t>Type</a:t>
                      </a:r>
                      <a:endParaRPr b="1"/>
                    </a:p>
                  </a:txBody>
                  <a:tcPr marT="91425" marB="91425" marR="91425" marL="91425">
                    <a:solidFill>
                      <a:schemeClr val="dk2"/>
                    </a:solidFill>
                  </a:tcPr>
                </a:tc>
                <a:tc>
                  <a:txBody>
                    <a:bodyPr/>
                    <a:lstStyle/>
                    <a:p>
                      <a:pPr indent="0" lvl="0" marL="0" rtl="0" algn="l">
                        <a:spcBef>
                          <a:spcPts val="0"/>
                        </a:spcBef>
                        <a:spcAft>
                          <a:spcPts val="0"/>
                        </a:spcAft>
                        <a:buNone/>
                      </a:pPr>
                      <a:r>
                        <a:rPr b="1" lang="en"/>
                        <a:t>Size</a:t>
                      </a:r>
                      <a:endParaRPr b="1"/>
                    </a:p>
                  </a:txBody>
                  <a:tcPr marT="91425" marB="91425" marR="91425" marL="91425">
                    <a:solidFill>
                      <a:schemeClr val="dk2"/>
                    </a:solidFill>
                  </a:tcPr>
                </a:tc>
              </a:tr>
              <a:tr h="381000">
                <a:tc>
                  <a:txBody>
                    <a:bodyPr/>
                    <a:lstStyle/>
                    <a:p>
                      <a:pPr indent="0" lvl="0" marL="0" rtl="0" algn="l">
                        <a:spcBef>
                          <a:spcPts val="0"/>
                        </a:spcBef>
                        <a:spcAft>
                          <a:spcPts val="0"/>
                        </a:spcAft>
                        <a:buNone/>
                      </a:pPr>
                      <a:r>
                        <a:rPr lang="en"/>
                        <a:t>byte </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81000">
                <a:tc>
                  <a:txBody>
                    <a:bodyPr/>
                    <a:lstStyle/>
                    <a:p>
                      <a:pPr indent="0" lvl="0" marL="0" rtl="0" algn="l">
                        <a:spcBef>
                          <a:spcPts val="0"/>
                        </a:spcBef>
                        <a:spcAft>
                          <a:spcPts val="0"/>
                        </a:spcAft>
                        <a:buNone/>
                      </a:pPr>
                      <a:r>
                        <a:rPr lang="en"/>
                        <a:t>char</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r>
              <a:tr h="381000">
                <a:tc>
                  <a:txBody>
                    <a:bodyPr/>
                    <a:lstStyle/>
                    <a:p>
                      <a:pPr indent="0" lvl="0" marL="0" rtl="0" algn="l">
                        <a:spcBef>
                          <a:spcPts val="0"/>
                        </a:spcBef>
                        <a:spcAft>
                          <a:spcPts val="0"/>
                        </a:spcAft>
                        <a:buNone/>
                      </a:pPr>
                      <a:r>
                        <a:rPr lang="en"/>
                        <a:t>short</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r>
              <a:tr h="381000">
                <a:tc>
                  <a:txBody>
                    <a:bodyPr/>
                    <a:lstStyle/>
                    <a:p>
                      <a:pPr indent="0" lvl="0" marL="0" rtl="0" algn="l">
                        <a:spcBef>
                          <a:spcPts val="0"/>
                        </a:spcBef>
                        <a:spcAft>
                          <a:spcPts val="0"/>
                        </a:spcAft>
                        <a:buNone/>
                      </a:pPr>
                      <a:r>
                        <a:rPr lang="en"/>
                        <a:t>int</a:t>
                      </a:r>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tc>
              </a:tr>
              <a:tr h="381000">
                <a:tc>
                  <a:txBody>
                    <a:bodyPr/>
                    <a:lstStyle/>
                    <a:p>
                      <a:pPr indent="0" lvl="0" marL="0" rtl="0" algn="l">
                        <a:spcBef>
                          <a:spcPts val="0"/>
                        </a:spcBef>
                        <a:spcAft>
                          <a:spcPts val="0"/>
                        </a:spcAft>
                        <a:buNone/>
                      </a:pPr>
                      <a:r>
                        <a:rPr lang="en"/>
                        <a:t>float</a:t>
                      </a:r>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tc>
              </a:tr>
              <a:tr h="381000">
                <a:tc>
                  <a:txBody>
                    <a:bodyPr/>
                    <a:lstStyle/>
                    <a:p>
                      <a:pPr indent="0" lvl="0" marL="0" rtl="0" algn="l">
                        <a:spcBef>
                          <a:spcPts val="0"/>
                        </a:spcBef>
                        <a:spcAft>
                          <a:spcPts val="0"/>
                        </a:spcAft>
                        <a:buNone/>
                      </a:pPr>
                      <a:r>
                        <a:rPr lang="en"/>
                        <a:t>long</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r>
              <a:tr h="381000">
                <a:tc>
                  <a:txBody>
                    <a:bodyPr/>
                    <a:lstStyle/>
                    <a:p>
                      <a:pPr indent="0" lvl="0" marL="0" rtl="0" algn="l">
                        <a:spcBef>
                          <a:spcPts val="0"/>
                        </a:spcBef>
                        <a:spcAft>
                          <a:spcPts val="0"/>
                        </a:spcAft>
                        <a:buNone/>
                      </a:pPr>
                      <a:r>
                        <a:rPr lang="en"/>
                        <a:t>double</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r>
              <a:tr h="381000">
                <a:tc>
                  <a:txBody>
                    <a:bodyPr/>
                    <a:lstStyle/>
                    <a:p>
                      <a:pPr indent="0" lvl="0" marL="0" rtl="0" algn="l">
                        <a:spcBef>
                          <a:spcPts val="0"/>
                        </a:spcBef>
                        <a:spcAft>
                          <a:spcPts val="0"/>
                        </a:spcAft>
                        <a:buNone/>
                      </a:pPr>
                      <a:r>
                        <a:rPr lang="en"/>
                        <a:t>reference</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r>
            </a:tbl>
          </a:graphicData>
        </a:graphic>
      </p:graphicFrame>
      <p:sp>
        <p:nvSpPr>
          <p:cNvPr id="271" name="Google Shape;271;g2e0ec7b56cf_0_259"/>
          <p:cNvSpPr txBox="1"/>
          <p:nvPr/>
        </p:nvSpPr>
        <p:spPr>
          <a:xfrm>
            <a:off x="3360200" y="1056200"/>
            <a:ext cx="56955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The size of an object can be decreased by (obviously) reducing the number of instance variables it holds and (less obviously) by reducing the size of those variables.</a:t>
            </a:r>
            <a:endParaRPr sz="1800">
              <a:solidFill>
                <a:schemeClr val="dk1"/>
              </a:solidFill>
              <a:latin typeface="Open Sans"/>
              <a:ea typeface="Open Sans"/>
              <a:cs typeface="Open Sans"/>
              <a:sym typeface="Open Sans"/>
            </a:endParaRPr>
          </a:p>
        </p:txBody>
      </p:sp>
      <p:pic>
        <p:nvPicPr>
          <p:cNvPr id="272" name="Google Shape;272;g2e0ec7b56cf_0_259"/>
          <p:cNvPicPr preferRelativeResize="0"/>
          <p:nvPr/>
        </p:nvPicPr>
        <p:blipFill>
          <a:blip r:embed="rId3">
            <a:alphaModFix/>
          </a:blip>
          <a:stretch>
            <a:fillRect/>
          </a:stretch>
        </p:blipFill>
        <p:spPr>
          <a:xfrm>
            <a:off x="3360200" y="2501600"/>
            <a:ext cx="5683525" cy="24280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2e0ec7b56cf_0_270"/>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Using Lazy Initialization</a:t>
            </a:r>
            <a:endParaRPr/>
          </a:p>
        </p:txBody>
      </p:sp>
      <p:pic>
        <p:nvPicPr>
          <p:cNvPr id="278" name="Google Shape;278;g2e0ec7b56cf_0_270"/>
          <p:cNvPicPr preferRelativeResize="0"/>
          <p:nvPr/>
        </p:nvPicPr>
        <p:blipFill>
          <a:blip r:embed="rId3">
            <a:alphaModFix/>
          </a:blip>
          <a:stretch>
            <a:fillRect/>
          </a:stretch>
        </p:blipFill>
        <p:spPr>
          <a:xfrm>
            <a:off x="152400" y="1220250"/>
            <a:ext cx="8839202" cy="361037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2e0ec7b56cf_0_279"/>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Using Immutable</a:t>
            </a:r>
            <a:endParaRPr/>
          </a:p>
        </p:txBody>
      </p:sp>
      <p:sp>
        <p:nvSpPr>
          <p:cNvPr id="284" name="Google Shape;284;g2e0ec7b56cf_0_279"/>
          <p:cNvSpPr txBox="1"/>
          <p:nvPr/>
        </p:nvSpPr>
        <p:spPr>
          <a:xfrm>
            <a:off x="334200" y="1001850"/>
            <a:ext cx="8475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In Java, many object types are immutable. This includes objects that have a corresponding primitive type—Integer, Double, Boolean, and so on—as well as other numeric-based types, like BigDecimal. The most common Java object, of course, is the immutable String. From a program design perspective, it is often a good idea for custom classes to represent immutable objects as well.</a:t>
            </a:r>
            <a:endParaRPr sz="1800">
              <a:solidFill>
                <a:schemeClr val="dk1"/>
              </a:solidFill>
              <a:latin typeface="Open Sans"/>
              <a:ea typeface="Open Sans"/>
              <a:cs typeface="Open Sans"/>
              <a:sym typeface="Open Sans"/>
            </a:endParaRPr>
          </a:p>
        </p:txBody>
      </p:sp>
      <p:pic>
        <p:nvPicPr>
          <p:cNvPr id="285" name="Google Shape;285;g2e0ec7b56cf_0_279"/>
          <p:cNvPicPr preferRelativeResize="0"/>
          <p:nvPr/>
        </p:nvPicPr>
        <p:blipFill>
          <a:blip r:embed="rId3">
            <a:alphaModFix/>
          </a:blip>
          <a:stretch>
            <a:fillRect/>
          </a:stretch>
        </p:blipFill>
        <p:spPr>
          <a:xfrm>
            <a:off x="461075" y="3202425"/>
            <a:ext cx="3143250" cy="1066800"/>
          </a:xfrm>
          <a:prstGeom prst="rect">
            <a:avLst/>
          </a:prstGeom>
          <a:noFill/>
          <a:ln>
            <a:noFill/>
          </a:ln>
        </p:spPr>
      </p:pic>
      <p:sp>
        <p:nvSpPr>
          <p:cNvPr id="286" name="Google Shape;286;g2e0ec7b56cf_0_279"/>
          <p:cNvSpPr txBox="1"/>
          <p:nvPr/>
        </p:nvSpPr>
        <p:spPr>
          <a:xfrm>
            <a:off x="3889400" y="3227925"/>
            <a:ext cx="4849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These singular representations of immutable objects are known as the canonical version of the object.</a:t>
            </a:r>
            <a:endParaRPr sz="18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2e0ec7b56cf_0_287"/>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Canonical Objects</a:t>
            </a:r>
            <a:endParaRPr/>
          </a:p>
        </p:txBody>
      </p:sp>
      <p:pic>
        <p:nvPicPr>
          <p:cNvPr id="292" name="Google Shape;292;g2e0ec7b56cf_0_287"/>
          <p:cNvPicPr preferRelativeResize="0"/>
          <p:nvPr/>
        </p:nvPicPr>
        <p:blipFill>
          <a:blip r:embed="rId3">
            <a:alphaModFix/>
          </a:blip>
          <a:stretch>
            <a:fillRect/>
          </a:stretch>
        </p:blipFill>
        <p:spPr>
          <a:xfrm>
            <a:off x="152400" y="1220250"/>
            <a:ext cx="8839202" cy="276944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2e0ec7b56cf_0_296"/>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Object Reuse</a:t>
            </a:r>
            <a:endParaRPr/>
          </a:p>
        </p:txBody>
      </p:sp>
      <p:sp>
        <p:nvSpPr>
          <p:cNvPr id="298" name="Google Shape;298;g2e0ec7b56cf_0_296"/>
          <p:cNvSpPr txBox="1"/>
          <p:nvPr/>
        </p:nvSpPr>
        <p:spPr>
          <a:xfrm>
            <a:off x="311700" y="1160600"/>
            <a:ext cx="8520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Object reuse is commonly achieved in two ways: object pools and thread-local variables. Object pooling, in particular, is widely disliked in GC circles for that reason, though for that matter, object pools are also widely disliked in development circles for many other reasons.</a:t>
            </a:r>
            <a:endParaRPr sz="1800">
              <a:solidFill>
                <a:schemeClr val="dk1"/>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2e0ec7b56cf_0_302"/>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Object Pools - Code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2e0ec7b56cf_0_306"/>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Thread Local </a:t>
            </a:r>
            <a:r>
              <a:rPr lang="en"/>
              <a:t>- Code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2e0ec7b56cf_0_310"/>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Singleton</a:t>
            </a:r>
            <a:r>
              <a:rPr lang="en"/>
              <a:t> design pattern</a:t>
            </a:r>
            <a:r>
              <a:rPr lang="en"/>
              <a:t> </a:t>
            </a:r>
            <a:r>
              <a:rPr lang="en"/>
              <a:t>- Code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2e0ec7b56cf_0_318"/>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Flyweight</a:t>
            </a:r>
            <a:endParaRPr/>
          </a:p>
        </p:txBody>
      </p:sp>
      <p:sp>
        <p:nvSpPr>
          <p:cNvPr id="319" name="Google Shape;319;g2e0ec7b56cf_0_318"/>
          <p:cNvSpPr txBox="1"/>
          <p:nvPr/>
        </p:nvSpPr>
        <p:spPr>
          <a:xfrm>
            <a:off x="311700" y="1160600"/>
            <a:ext cx="8520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Flyweight is a structural design pattern that allows programs to support vast quantities of objects by keeping their memory consumption low. The pattern achieves it by sharing parts of object state between multiple objects. In other words, the Flyweight saves RAM by caching the same data used by different objects.</a:t>
            </a:r>
            <a:endParaRPr sz="1800">
              <a:solidFill>
                <a:schemeClr val="dk1"/>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2e0ec7b56cf_0_323"/>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Using primitive type collections</a:t>
            </a:r>
            <a:endParaRPr/>
          </a:p>
        </p:txBody>
      </p:sp>
      <p:sp>
        <p:nvSpPr>
          <p:cNvPr id="325" name="Google Shape;325;g2e0ec7b56cf_0_323"/>
          <p:cNvSpPr txBox="1"/>
          <p:nvPr>
            <p:ph idx="4294967295" type="body"/>
          </p:nvPr>
        </p:nvSpPr>
        <p:spPr>
          <a:xfrm>
            <a:off x="397400" y="1547325"/>
            <a:ext cx="7908000" cy="2943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n" sz="1900" u="sng">
                <a:solidFill>
                  <a:schemeClr val="hlink"/>
                </a:solidFill>
                <a:hlinkClick r:id="rId3"/>
              </a:rPr>
              <a:t>https://github.com/real-logic/agrona</a:t>
            </a:r>
            <a:endParaRPr sz="1900"/>
          </a:p>
          <a:p>
            <a:pPr indent="-349250" lvl="0" marL="457200" rtl="0" algn="l">
              <a:lnSpc>
                <a:spcPct val="115000"/>
              </a:lnSpc>
              <a:spcBef>
                <a:spcPts val="1200"/>
              </a:spcBef>
              <a:spcAft>
                <a:spcPts val="0"/>
              </a:spcAft>
              <a:buSzPts val="1900"/>
              <a:buChar char="●"/>
            </a:pPr>
            <a:r>
              <a:rPr lang="en" sz="1900"/>
              <a:t>https://github.com/eclipse/eclipse-collections</a:t>
            </a:r>
            <a:endParaRPr sz="1900"/>
          </a:p>
          <a:p>
            <a:pPr indent="0" lvl="0" marL="0" rtl="0" algn="l">
              <a:lnSpc>
                <a:spcPct val="115000"/>
              </a:lnSpc>
              <a:spcBef>
                <a:spcPts val="1200"/>
              </a:spcBef>
              <a:spcAft>
                <a:spcPts val="0"/>
              </a:spcAft>
              <a:buNone/>
            </a:pPr>
            <a:r>
              <a:t/>
            </a:r>
            <a:endParaRPr sz="1900"/>
          </a:p>
        </p:txBody>
      </p:sp>
      <p:sp>
        <p:nvSpPr>
          <p:cNvPr id="326" name="Google Shape;326;g2e0ec7b56cf_0_323"/>
          <p:cNvSpPr txBox="1"/>
          <p:nvPr/>
        </p:nvSpPr>
        <p:spPr>
          <a:xfrm>
            <a:off x="732025" y="1049525"/>
            <a:ext cx="8228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There is a couple of libraries providing the collections where primities could be stored instead of wrappers</a:t>
            </a:r>
            <a:endParaRPr sz="18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2e0ec7b56cf_0_330"/>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Using primitive type collections</a:t>
            </a:r>
            <a:endParaRPr/>
          </a:p>
        </p:txBody>
      </p:sp>
      <p:sp>
        <p:nvSpPr>
          <p:cNvPr id="332" name="Google Shape;332;g2e0ec7b56cf_0_330"/>
          <p:cNvSpPr txBox="1"/>
          <p:nvPr>
            <p:ph idx="4294967295" type="body"/>
          </p:nvPr>
        </p:nvSpPr>
        <p:spPr>
          <a:xfrm>
            <a:off x="397400" y="1547325"/>
            <a:ext cx="7908000" cy="2943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n" sz="1900" u="sng">
                <a:solidFill>
                  <a:schemeClr val="hlink"/>
                </a:solidFill>
                <a:hlinkClick r:id="rId3"/>
              </a:rPr>
              <a:t>https://github.com/real-logic/agrona</a:t>
            </a:r>
            <a:endParaRPr sz="1900"/>
          </a:p>
          <a:p>
            <a:pPr indent="-349250" lvl="0" marL="457200" rtl="0" algn="l">
              <a:lnSpc>
                <a:spcPct val="115000"/>
              </a:lnSpc>
              <a:spcBef>
                <a:spcPts val="1200"/>
              </a:spcBef>
              <a:spcAft>
                <a:spcPts val="0"/>
              </a:spcAft>
              <a:buSzPts val="1900"/>
              <a:buChar char="●"/>
            </a:pPr>
            <a:r>
              <a:rPr lang="en" sz="1900"/>
              <a:t>https://github.com/eclipse/eclipse-collections</a:t>
            </a:r>
            <a:endParaRPr sz="1900"/>
          </a:p>
          <a:p>
            <a:pPr indent="0" lvl="0" marL="0" rtl="0" algn="l">
              <a:lnSpc>
                <a:spcPct val="115000"/>
              </a:lnSpc>
              <a:spcBef>
                <a:spcPts val="1200"/>
              </a:spcBef>
              <a:spcAft>
                <a:spcPts val="0"/>
              </a:spcAft>
              <a:buNone/>
            </a:pPr>
            <a:r>
              <a:t/>
            </a:r>
            <a:endParaRPr sz="1900"/>
          </a:p>
        </p:txBody>
      </p:sp>
      <p:sp>
        <p:nvSpPr>
          <p:cNvPr id="333" name="Google Shape;333;g2e0ec7b56cf_0_330"/>
          <p:cNvSpPr txBox="1"/>
          <p:nvPr/>
        </p:nvSpPr>
        <p:spPr>
          <a:xfrm>
            <a:off x="732025" y="1049525"/>
            <a:ext cx="8228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There is a couple of libraries providing the collections where primities could be stored instead of wrappers</a:t>
            </a:r>
            <a:endParaRPr sz="18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2e0ec7b56cf_0_336"/>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Thread Synchronization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2e0ec7b56cf_0_340"/>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Costs of Synchronization</a:t>
            </a:r>
            <a:endParaRPr/>
          </a:p>
        </p:txBody>
      </p:sp>
      <p:sp>
        <p:nvSpPr>
          <p:cNvPr id="344" name="Google Shape;344;g2e0ec7b56cf_0_340"/>
          <p:cNvSpPr txBox="1"/>
          <p:nvPr/>
        </p:nvSpPr>
        <p:spPr>
          <a:xfrm>
            <a:off x="105825" y="1049525"/>
            <a:ext cx="88545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Synchronized areas of code affect performance in two ways. First, the amount of time an application spends in a synchronized block affects the scalability of an application. Second, obtaining the synchronization lock requires CPU cycles and hence affects performance.</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45" name="Google Shape;345;g2e0ec7b56cf_0_340"/>
          <p:cNvSpPr txBox="1"/>
          <p:nvPr>
            <p:ph idx="4294967295" type="body"/>
          </p:nvPr>
        </p:nvSpPr>
        <p:spPr>
          <a:xfrm>
            <a:off x="311700" y="2235250"/>
            <a:ext cx="7908000" cy="2943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n" sz="1900"/>
              <a:t>Context Switching</a:t>
            </a:r>
            <a:endParaRPr sz="1900"/>
          </a:p>
          <a:p>
            <a:pPr indent="-349250" lvl="0" marL="457200" rtl="0" algn="l">
              <a:lnSpc>
                <a:spcPct val="115000"/>
              </a:lnSpc>
              <a:spcBef>
                <a:spcPts val="1200"/>
              </a:spcBef>
              <a:spcAft>
                <a:spcPts val="0"/>
              </a:spcAft>
              <a:buSzPts val="1900"/>
              <a:buChar char="●"/>
            </a:pPr>
            <a:r>
              <a:rPr lang="en" sz="1900"/>
              <a:t>Contention</a:t>
            </a:r>
            <a:endParaRPr sz="1900"/>
          </a:p>
          <a:p>
            <a:pPr indent="-349250" lvl="0" marL="457200" rtl="0" algn="l">
              <a:lnSpc>
                <a:spcPct val="115000"/>
              </a:lnSpc>
              <a:spcBef>
                <a:spcPts val="1200"/>
              </a:spcBef>
              <a:spcAft>
                <a:spcPts val="0"/>
              </a:spcAft>
              <a:buSzPts val="1900"/>
              <a:buChar char="●"/>
            </a:pPr>
            <a:r>
              <a:rPr lang="en" sz="1900"/>
              <a:t>Lock Acquisition and Release</a:t>
            </a:r>
            <a:endParaRPr sz="1900"/>
          </a:p>
          <a:p>
            <a:pPr indent="-349250" lvl="0" marL="457200" rtl="0" algn="l">
              <a:lnSpc>
                <a:spcPct val="115000"/>
              </a:lnSpc>
              <a:spcBef>
                <a:spcPts val="1200"/>
              </a:spcBef>
              <a:spcAft>
                <a:spcPts val="0"/>
              </a:spcAft>
              <a:buSzPts val="1900"/>
              <a:buChar char="●"/>
            </a:pPr>
            <a:r>
              <a:rPr lang="en" sz="1900"/>
              <a:t>Memory Consistency Effects</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2e0ec7b56cf_0_347"/>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Avoiding Synchronization</a:t>
            </a:r>
            <a:endParaRPr/>
          </a:p>
        </p:txBody>
      </p:sp>
      <p:sp>
        <p:nvSpPr>
          <p:cNvPr id="351" name="Google Shape;351;g2e0ec7b56cf_0_347"/>
          <p:cNvSpPr txBox="1"/>
          <p:nvPr/>
        </p:nvSpPr>
        <p:spPr>
          <a:xfrm>
            <a:off x="211675" y="1067850"/>
            <a:ext cx="8766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If synchronization can be avoided altogether, locking penalties will not affect the application’s performance. Two general approaches can be used to achieve that. </a:t>
            </a:r>
            <a:endParaRPr sz="1800">
              <a:solidFill>
                <a:schemeClr val="dk1"/>
              </a:solidFill>
              <a:latin typeface="Open Sans"/>
              <a:ea typeface="Open Sans"/>
              <a:cs typeface="Open Sans"/>
              <a:sym typeface="Open Sans"/>
            </a:endParaRPr>
          </a:p>
        </p:txBody>
      </p:sp>
      <p:sp>
        <p:nvSpPr>
          <p:cNvPr id="352" name="Google Shape;352;g2e0ec7b56cf_0_347"/>
          <p:cNvSpPr txBox="1"/>
          <p:nvPr/>
        </p:nvSpPr>
        <p:spPr>
          <a:xfrm>
            <a:off x="555625" y="2169575"/>
            <a:ext cx="48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53" name="Google Shape;353;g2e0ec7b56cf_0_347"/>
          <p:cNvSpPr txBox="1"/>
          <p:nvPr>
            <p:ph idx="4294967295" type="body"/>
          </p:nvPr>
        </p:nvSpPr>
        <p:spPr>
          <a:xfrm>
            <a:off x="311700" y="2235250"/>
            <a:ext cx="7908000" cy="2943600"/>
          </a:xfrm>
          <a:prstGeom prst="rect">
            <a:avLst/>
          </a:prstGeom>
          <a:noFill/>
          <a:ln>
            <a:noFill/>
          </a:ln>
        </p:spPr>
        <p:txBody>
          <a:bodyPr anchorCtr="0" anchor="t" bIns="91425" lIns="91425" spcFirstLastPara="1" rIns="91425" wrap="square" tIns="91425">
            <a:normAutofit/>
          </a:bodyPr>
          <a:lstStyle/>
          <a:p>
            <a:pPr indent="-349250" lvl="0" marL="457200" rtl="0" algn="l">
              <a:lnSpc>
                <a:spcPct val="115000"/>
              </a:lnSpc>
              <a:spcBef>
                <a:spcPts val="1200"/>
              </a:spcBef>
              <a:spcAft>
                <a:spcPts val="0"/>
              </a:spcAft>
              <a:buSzPts val="1900"/>
              <a:buChar char="●"/>
            </a:pPr>
            <a:r>
              <a:rPr lang="en" sz="1900"/>
              <a:t>Thread-local variable</a:t>
            </a:r>
            <a:endParaRPr sz="1900"/>
          </a:p>
          <a:p>
            <a:pPr indent="-349250" lvl="0" marL="457200" rtl="0" algn="l">
              <a:lnSpc>
                <a:spcPct val="115000"/>
              </a:lnSpc>
              <a:spcBef>
                <a:spcPts val="1200"/>
              </a:spcBef>
              <a:spcAft>
                <a:spcPts val="0"/>
              </a:spcAft>
              <a:buSzPts val="1900"/>
              <a:buChar char="●"/>
            </a:pPr>
            <a:r>
              <a:rPr lang="en" sz="1900"/>
              <a:t>CAS-based alternatives</a:t>
            </a:r>
            <a:endParaRPr sz="19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2e0ec7b56cf_0_357"/>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Thread-local variable</a:t>
            </a:r>
            <a:endParaRPr/>
          </a:p>
        </p:txBody>
      </p:sp>
      <p:sp>
        <p:nvSpPr>
          <p:cNvPr id="359" name="Google Shape;359;g2e0ec7b56cf_0_357"/>
          <p:cNvSpPr txBox="1"/>
          <p:nvPr/>
        </p:nvSpPr>
        <p:spPr>
          <a:xfrm>
            <a:off x="555625" y="2169575"/>
            <a:ext cx="48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pic>
        <p:nvPicPr>
          <p:cNvPr id="360" name="Google Shape;360;g2e0ec7b56cf_0_357"/>
          <p:cNvPicPr preferRelativeResize="0"/>
          <p:nvPr/>
        </p:nvPicPr>
        <p:blipFill>
          <a:blip r:embed="rId3">
            <a:alphaModFix/>
          </a:blip>
          <a:stretch>
            <a:fillRect/>
          </a:stretch>
        </p:blipFill>
        <p:spPr>
          <a:xfrm>
            <a:off x="390500" y="1152050"/>
            <a:ext cx="8520601" cy="350538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2e0ec7b56cf_0_365"/>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CAS-based alternatives</a:t>
            </a:r>
            <a:endParaRPr/>
          </a:p>
        </p:txBody>
      </p:sp>
      <p:sp>
        <p:nvSpPr>
          <p:cNvPr id="366" name="Google Shape;366;g2e0ec7b56cf_0_365"/>
          <p:cNvSpPr txBox="1"/>
          <p:nvPr/>
        </p:nvSpPr>
        <p:spPr>
          <a:xfrm>
            <a:off x="555625" y="2169575"/>
            <a:ext cx="48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pic>
        <p:nvPicPr>
          <p:cNvPr id="367" name="Google Shape;367;g2e0ec7b56cf_0_365"/>
          <p:cNvPicPr preferRelativeResize="0"/>
          <p:nvPr/>
        </p:nvPicPr>
        <p:blipFill>
          <a:blip r:embed="rId3">
            <a:alphaModFix/>
          </a:blip>
          <a:stretch>
            <a:fillRect/>
          </a:stretch>
        </p:blipFill>
        <p:spPr>
          <a:xfrm>
            <a:off x="311700" y="1222650"/>
            <a:ext cx="7467600" cy="1714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2e0ec7b56cf_0_372"/>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False sharing</a:t>
            </a:r>
            <a:endParaRPr/>
          </a:p>
        </p:txBody>
      </p:sp>
      <p:sp>
        <p:nvSpPr>
          <p:cNvPr id="373" name="Google Shape;373;g2e0ec7b56cf_0_372"/>
          <p:cNvSpPr txBox="1"/>
          <p:nvPr/>
        </p:nvSpPr>
        <p:spPr>
          <a:xfrm>
            <a:off x="555625" y="2169575"/>
            <a:ext cx="48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74" name="Google Shape;374;g2e0ec7b56cf_0_372"/>
          <p:cNvSpPr txBox="1"/>
          <p:nvPr/>
        </p:nvSpPr>
        <p:spPr>
          <a:xfrm>
            <a:off x="232800" y="1199825"/>
            <a:ext cx="43392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Synchronized areas of code affect performance in two ways. First, the amount of time an application spends in a synchronized block affects the scalability of an application. Second, obtaining the synchronization lock requires CPU cycles and hence affects performance.</a:t>
            </a:r>
            <a:endParaRPr sz="1800">
              <a:solidFill>
                <a:schemeClr val="dk1"/>
              </a:solidFill>
              <a:latin typeface="Open Sans"/>
              <a:ea typeface="Open Sans"/>
              <a:cs typeface="Open Sans"/>
              <a:sym typeface="Open Sans"/>
            </a:endParaRPr>
          </a:p>
        </p:txBody>
      </p:sp>
      <p:pic>
        <p:nvPicPr>
          <p:cNvPr id="375" name="Google Shape;375;g2e0ec7b56cf_0_372"/>
          <p:cNvPicPr preferRelativeResize="0"/>
          <p:nvPr/>
        </p:nvPicPr>
        <p:blipFill>
          <a:blip r:embed="rId3">
            <a:alphaModFix/>
          </a:blip>
          <a:stretch>
            <a:fillRect/>
          </a:stretch>
        </p:blipFill>
        <p:spPr>
          <a:xfrm>
            <a:off x="4136023" y="843375"/>
            <a:ext cx="4753975" cy="26735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2e0ec7b56cf_0_382"/>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False sharing</a:t>
            </a:r>
            <a:endParaRPr/>
          </a:p>
        </p:txBody>
      </p:sp>
      <p:sp>
        <p:nvSpPr>
          <p:cNvPr id="381" name="Google Shape;381;g2e0ec7b56cf_0_382"/>
          <p:cNvSpPr txBox="1"/>
          <p:nvPr/>
        </p:nvSpPr>
        <p:spPr>
          <a:xfrm>
            <a:off x="555625" y="2169575"/>
            <a:ext cx="48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82" name="Google Shape;382;g2e0ec7b56cf_0_382"/>
          <p:cNvSpPr txBox="1"/>
          <p:nvPr/>
        </p:nvSpPr>
        <p:spPr>
          <a:xfrm>
            <a:off x="232800" y="1199825"/>
            <a:ext cx="43392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Synchronized areas of code affect performance in two ways. First, the amount of time an application spends in a synchronized block affects the scalability of an application. Second, obtaining the synchronization lock requires CPU cycles and hence affects performance.</a:t>
            </a:r>
            <a:endParaRPr sz="1800">
              <a:solidFill>
                <a:schemeClr val="dk1"/>
              </a:solidFill>
              <a:latin typeface="Open Sans"/>
              <a:ea typeface="Open Sans"/>
              <a:cs typeface="Open Sans"/>
              <a:sym typeface="Open Sans"/>
            </a:endParaRPr>
          </a:p>
        </p:txBody>
      </p:sp>
      <p:pic>
        <p:nvPicPr>
          <p:cNvPr id="383" name="Google Shape;383;g2e0ec7b56cf_0_382"/>
          <p:cNvPicPr preferRelativeResize="0"/>
          <p:nvPr/>
        </p:nvPicPr>
        <p:blipFill>
          <a:blip r:embed="rId3">
            <a:alphaModFix/>
          </a:blip>
          <a:stretch>
            <a:fillRect/>
          </a:stretch>
        </p:blipFill>
        <p:spPr>
          <a:xfrm>
            <a:off x="4572000" y="1238833"/>
            <a:ext cx="4339199" cy="180159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2e0ec7b56cf_0_390"/>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Thread Affinity</a:t>
            </a:r>
            <a:endParaRPr/>
          </a:p>
        </p:txBody>
      </p:sp>
      <p:sp>
        <p:nvSpPr>
          <p:cNvPr id="389" name="Google Shape;389;g2e0ec7b56cf_0_390"/>
          <p:cNvSpPr txBox="1"/>
          <p:nvPr/>
        </p:nvSpPr>
        <p:spPr>
          <a:xfrm>
            <a:off x="555625" y="2169575"/>
            <a:ext cx="48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90" name="Google Shape;390;g2e0ec7b56cf_0_390"/>
          <p:cNvSpPr txBox="1"/>
          <p:nvPr/>
        </p:nvSpPr>
        <p:spPr>
          <a:xfrm>
            <a:off x="555625" y="1001850"/>
            <a:ext cx="82149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Thread affinity is the concept of mapping a thread to a specific processor or core in a multi-core system. When a thread is bound to a specific processor or core, it can only be executed on that processor or core. This can help to reduce cache misses, increase data locality, and reduce context switching overhead.</a:t>
            </a:r>
            <a:endParaRPr sz="1800">
              <a:solidFill>
                <a:schemeClr val="dk1"/>
              </a:solidFill>
              <a:latin typeface="Open Sans"/>
              <a:ea typeface="Open Sans"/>
              <a:cs typeface="Open Sans"/>
              <a:sym typeface="Open Sans"/>
            </a:endParaRPr>
          </a:p>
        </p:txBody>
      </p:sp>
      <p:pic>
        <p:nvPicPr>
          <p:cNvPr id="391" name="Google Shape;391;g2e0ec7b56cf_0_390"/>
          <p:cNvPicPr preferRelativeResize="0"/>
          <p:nvPr/>
        </p:nvPicPr>
        <p:blipFill>
          <a:blip r:embed="rId3">
            <a:alphaModFix/>
          </a:blip>
          <a:stretch>
            <a:fillRect/>
          </a:stretch>
        </p:blipFill>
        <p:spPr>
          <a:xfrm>
            <a:off x="152400" y="2783675"/>
            <a:ext cx="8839200" cy="144346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2e0ec7b56cf_0_399"/>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LMAX distruptor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2e0ec7b56cf_0_403"/>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LMAX </a:t>
            </a:r>
            <a:r>
              <a:rPr lang="en"/>
              <a:t>Disruptor</a:t>
            </a:r>
            <a:endParaRPr/>
          </a:p>
        </p:txBody>
      </p:sp>
      <p:sp>
        <p:nvSpPr>
          <p:cNvPr id="402" name="Google Shape;402;g2e0ec7b56cf_0_403"/>
          <p:cNvSpPr txBox="1"/>
          <p:nvPr/>
        </p:nvSpPr>
        <p:spPr>
          <a:xfrm>
            <a:off x="555625" y="2169575"/>
            <a:ext cx="48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03" name="Google Shape;403;g2e0ec7b56cf_0_403"/>
          <p:cNvSpPr txBox="1"/>
          <p:nvPr/>
        </p:nvSpPr>
        <p:spPr>
          <a:xfrm>
            <a:off x="555625" y="1001850"/>
            <a:ext cx="821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04" name="Google Shape;404;g2e0ec7b56cf_0_403"/>
          <p:cNvSpPr txBox="1"/>
          <p:nvPr/>
        </p:nvSpPr>
        <p:spPr>
          <a:xfrm>
            <a:off x="267600" y="1094100"/>
            <a:ext cx="3183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The LMAX Disruptor is a high performance inter-thread messaging library. It grew out of LMAX’s research into concurrency, performance and non-blocking algorithms and today forms a core part of their Exchange’s infrastructure.</a:t>
            </a:r>
            <a:endParaRPr sz="1800">
              <a:solidFill>
                <a:schemeClr val="dk1"/>
              </a:solidFill>
              <a:latin typeface="Open Sans"/>
              <a:ea typeface="Open Sans"/>
              <a:cs typeface="Open Sans"/>
              <a:sym typeface="Open Sans"/>
            </a:endParaRPr>
          </a:p>
        </p:txBody>
      </p:sp>
      <p:pic>
        <p:nvPicPr>
          <p:cNvPr id="405" name="Google Shape;405;g2e0ec7b56cf_0_403"/>
          <p:cNvPicPr preferRelativeResize="0"/>
          <p:nvPr/>
        </p:nvPicPr>
        <p:blipFill>
          <a:blip r:embed="rId3">
            <a:alphaModFix/>
          </a:blip>
          <a:stretch>
            <a:fillRect/>
          </a:stretch>
        </p:blipFill>
        <p:spPr>
          <a:xfrm>
            <a:off x="3349075" y="721588"/>
            <a:ext cx="5703699" cy="37930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2e0ec7b56cf_0_412"/>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LMAX Disruptor</a:t>
            </a:r>
            <a:endParaRPr/>
          </a:p>
        </p:txBody>
      </p:sp>
      <p:sp>
        <p:nvSpPr>
          <p:cNvPr id="411" name="Google Shape;411;g2e0ec7b56cf_0_412"/>
          <p:cNvSpPr txBox="1"/>
          <p:nvPr/>
        </p:nvSpPr>
        <p:spPr>
          <a:xfrm>
            <a:off x="555625" y="2169575"/>
            <a:ext cx="48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12" name="Google Shape;412;g2e0ec7b56cf_0_412"/>
          <p:cNvSpPr txBox="1"/>
          <p:nvPr/>
        </p:nvSpPr>
        <p:spPr>
          <a:xfrm>
            <a:off x="555625" y="1001850"/>
            <a:ext cx="821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13" name="Google Shape;413;g2e0ec7b56cf_0_412"/>
          <p:cNvSpPr txBox="1"/>
          <p:nvPr/>
        </p:nvSpPr>
        <p:spPr>
          <a:xfrm>
            <a:off x="201925" y="1001850"/>
            <a:ext cx="89223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To understand the benefits of the Disruptor we can compare it to something well understood and quite similar in purpose. In the case of the Disruptor this would be Java’s BlockingQueue. Like a queue the purpose of the Disruptor is to move data (e.g. messages or events) between threads within the same process. However, there are some key features that the Disruptor provides that distinguish it from a queue. They are:</a:t>
            </a:r>
            <a:endParaRPr sz="1800">
              <a:solidFill>
                <a:schemeClr val="dk1"/>
              </a:solidFill>
              <a:latin typeface="Open Sans"/>
              <a:ea typeface="Open Sans"/>
              <a:cs typeface="Open Sans"/>
              <a:sym typeface="Open Sans"/>
            </a:endParaRPr>
          </a:p>
        </p:txBody>
      </p:sp>
      <p:sp>
        <p:nvSpPr>
          <p:cNvPr id="414" name="Google Shape;414;g2e0ec7b56cf_0_412"/>
          <p:cNvSpPr txBox="1"/>
          <p:nvPr>
            <p:ph idx="4294967295" type="body"/>
          </p:nvPr>
        </p:nvSpPr>
        <p:spPr>
          <a:xfrm>
            <a:off x="201925" y="3029000"/>
            <a:ext cx="9190800" cy="2943600"/>
          </a:xfrm>
          <a:prstGeom prst="rect">
            <a:avLst/>
          </a:prstGeom>
          <a:noFill/>
          <a:ln>
            <a:noFill/>
          </a:ln>
        </p:spPr>
        <p:txBody>
          <a:bodyPr anchorCtr="0" anchor="t" bIns="91425" lIns="91425" spcFirstLastPara="1" rIns="91425" wrap="square" tIns="91425">
            <a:normAutofit/>
          </a:bodyPr>
          <a:lstStyle/>
          <a:p>
            <a:pPr indent="-349250" lvl="0" marL="457200" rtl="0" algn="l">
              <a:lnSpc>
                <a:spcPct val="115000"/>
              </a:lnSpc>
              <a:spcBef>
                <a:spcPts val="1200"/>
              </a:spcBef>
              <a:spcAft>
                <a:spcPts val="0"/>
              </a:spcAft>
              <a:buSzPts val="1900"/>
              <a:buChar char="●"/>
            </a:pPr>
            <a:r>
              <a:rPr lang="en" sz="1900"/>
              <a:t>Multicast events to consumers, with consumer dependency graph.</a:t>
            </a:r>
            <a:endParaRPr sz="1900"/>
          </a:p>
          <a:p>
            <a:pPr indent="-349250" lvl="0" marL="457200" rtl="0" algn="l">
              <a:lnSpc>
                <a:spcPct val="115000"/>
              </a:lnSpc>
              <a:spcBef>
                <a:spcPts val="1200"/>
              </a:spcBef>
              <a:spcAft>
                <a:spcPts val="0"/>
              </a:spcAft>
              <a:buSzPts val="1900"/>
              <a:buChar char="●"/>
            </a:pPr>
            <a:r>
              <a:rPr lang="en" sz="1900"/>
              <a:t>Pre-allocate memory for events.</a:t>
            </a:r>
            <a:endParaRPr sz="1900"/>
          </a:p>
          <a:p>
            <a:pPr indent="-349250" lvl="0" marL="457200" rtl="0" algn="l">
              <a:lnSpc>
                <a:spcPct val="115000"/>
              </a:lnSpc>
              <a:spcBef>
                <a:spcPts val="1200"/>
              </a:spcBef>
              <a:spcAft>
                <a:spcPts val="0"/>
              </a:spcAft>
              <a:buSzPts val="1900"/>
              <a:buChar char="●"/>
            </a:pPr>
            <a:r>
              <a:rPr lang="en" sz="1900"/>
              <a:t>Optionally lock-free.</a:t>
            </a:r>
            <a:endParaRPr sz="19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2e0ec7b56cf_0_471"/>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Ring Buffer</a:t>
            </a:r>
            <a:endParaRPr/>
          </a:p>
        </p:txBody>
      </p:sp>
      <p:sp>
        <p:nvSpPr>
          <p:cNvPr id="420" name="Google Shape;420;g2e0ec7b56cf_0_471"/>
          <p:cNvSpPr txBox="1"/>
          <p:nvPr/>
        </p:nvSpPr>
        <p:spPr>
          <a:xfrm>
            <a:off x="555625" y="2169575"/>
            <a:ext cx="484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421" name="Google Shape;421;g2e0ec7b56cf_0_471"/>
          <p:cNvSpPr txBox="1"/>
          <p:nvPr/>
        </p:nvSpPr>
        <p:spPr>
          <a:xfrm>
            <a:off x="555625" y="1001850"/>
            <a:ext cx="821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pic>
        <p:nvPicPr>
          <p:cNvPr id="422" name="Google Shape;422;g2e0ec7b56cf_0_471"/>
          <p:cNvPicPr preferRelativeResize="0"/>
          <p:nvPr/>
        </p:nvPicPr>
        <p:blipFill>
          <a:blip r:embed="rId3">
            <a:alphaModFix/>
          </a:blip>
          <a:stretch>
            <a:fillRect/>
          </a:stretch>
        </p:blipFill>
        <p:spPr>
          <a:xfrm>
            <a:off x="4438825" y="324750"/>
            <a:ext cx="4586100" cy="3439562"/>
          </a:xfrm>
          <a:prstGeom prst="rect">
            <a:avLst/>
          </a:prstGeom>
          <a:noFill/>
          <a:ln>
            <a:noFill/>
          </a:ln>
        </p:spPr>
      </p:pic>
      <p:sp>
        <p:nvSpPr>
          <p:cNvPr id="423" name="Google Shape;423;g2e0ec7b56cf_0_471"/>
          <p:cNvSpPr txBox="1"/>
          <p:nvPr/>
        </p:nvSpPr>
        <p:spPr>
          <a:xfrm>
            <a:off x="158725" y="1067850"/>
            <a:ext cx="4586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The ring buffer is a circular software queue. This queue has a first-in-first-out (FIFO) data characteristic. These buffers are quite common and are found in many embedded systems. Usually, most developers write these constructs from scratch on an as-needed basis.</a:t>
            </a:r>
            <a:endParaRPr sz="1800">
              <a:solidFill>
                <a:schemeClr val="dk1"/>
              </a:solidFill>
              <a:latin typeface="Open Sans"/>
              <a:ea typeface="Open Sans"/>
              <a:cs typeface="Open Sans"/>
              <a:sym typeface="Open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2e0ec7b56cf_0_421"/>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Chronicle Map</a:t>
            </a:r>
            <a:endParaRPr/>
          </a:p>
        </p:txBody>
      </p:sp>
      <p:sp>
        <p:nvSpPr>
          <p:cNvPr id="429" name="Google Shape;429;g2e0ec7b56cf_0_421"/>
          <p:cNvSpPr txBox="1"/>
          <p:nvPr/>
        </p:nvSpPr>
        <p:spPr>
          <a:xfrm>
            <a:off x="432150" y="1067850"/>
            <a:ext cx="35277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Chronicle Map is a super-fast, in-memory, non-blocking, key-value store, designed for low-latency, and/or multi-process applications such as trading and financial market applications. See Features doc for more information.</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rPr lang="en" sz="1800">
                <a:solidFill>
                  <a:schemeClr val="dk1"/>
                </a:solidFill>
                <a:latin typeface="Open Sans"/>
                <a:ea typeface="Open Sans"/>
                <a:cs typeface="Open Sans"/>
                <a:sym typeface="Open Sans"/>
              </a:rPr>
              <a:t>The size of a Chronicle Map is not limited by memory (RAM), but rather by the available disk capacity.</a:t>
            </a:r>
            <a:endParaRPr sz="1800">
              <a:solidFill>
                <a:schemeClr val="dk1"/>
              </a:solidFill>
              <a:latin typeface="Open Sans"/>
              <a:ea typeface="Open Sans"/>
              <a:cs typeface="Open Sans"/>
              <a:sym typeface="Open Sans"/>
            </a:endParaRPr>
          </a:p>
        </p:txBody>
      </p:sp>
      <p:pic>
        <p:nvPicPr>
          <p:cNvPr id="430" name="Google Shape;430;g2e0ec7b56cf_0_421"/>
          <p:cNvPicPr preferRelativeResize="0"/>
          <p:nvPr/>
        </p:nvPicPr>
        <p:blipFill>
          <a:blip r:embed="rId3">
            <a:alphaModFix/>
          </a:blip>
          <a:stretch>
            <a:fillRect/>
          </a:stretch>
        </p:blipFill>
        <p:spPr>
          <a:xfrm>
            <a:off x="4271100" y="1149425"/>
            <a:ext cx="4433700" cy="380422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2e0ec7b56cf_0_453"/>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Chronicle Map</a:t>
            </a:r>
            <a:endParaRPr/>
          </a:p>
        </p:txBody>
      </p:sp>
      <p:sp>
        <p:nvSpPr>
          <p:cNvPr id="436" name="Google Shape;436;g2e0ec7b56cf_0_453"/>
          <p:cNvSpPr txBox="1"/>
          <p:nvPr/>
        </p:nvSpPr>
        <p:spPr>
          <a:xfrm>
            <a:off x="432150" y="1067850"/>
            <a:ext cx="352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Use cases:</a:t>
            </a:r>
            <a:endParaRPr sz="1800">
              <a:solidFill>
                <a:schemeClr val="dk1"/>
              </a:solidFill>
              <a:latin typeface="Open Sans"/>
              <a:ea typeface="Open Sans"/>
              <a:cs typeface="Open Sans"/>
              <a:sym typeface="Open Sans"/>
            </a:endParaRPr>
          </a:p>
        </p:txBody>
      </p:sp>
      <p:pic>
        <p:nvPicPr>
          <p:cNvPr id="437" name="Google Shape;437;g2e0ec7b56cf_0_453"/>
          <p:cNvPicPr preferRelativeResize="0"/>
          <p:nvPr/>
        </p:nvPicPr>
        <p:blipFill>
          <a:blip r:embed="rId3">
            <a:alphaModFix/>
          </a:blip>
          <a:stretch>
            <a:fillRect/>
          </a:stretch>
        </p:blipFill>
        <p:spPr>
          <a:xfrm>
            <a:off x="4271100" y="1149425"/>
            <a:ext cx="4433700" cy="3804224"/>
          </a:xfrm>
          <a:prstGeom prst="rect">
            <a:avLst/>
          </a:prstGeom>
          <a:noFill/>
          <a:ln>
            <a:noFill/>
          </a:ln>
        </p:spPr>
      </p:pic>
      <p:sp>
        <p:nvSpPr>
          <p:cNvPr id="438" name="Google Shape;438;g2e0ec7b56cf_0_453"/>
          <p:cNvSpPr txBox="1"/>
          <p:nvPr>
            <p:ph idx="4294967295" type="body"/>
          </p:nvPr>
        </p:nvSpPr>
        <p:spPr>
          <a:xfrm>
            <a:off x="305700" y="1609050"/>
            <a:ext cx="3780600" cy="1715700"/>
          </a:xfrm>
          <a:prstGeom prst="rect">
            <a:avLst/>
          </a:prstGeom>
          <a:noFill/>
          <a:ln>
            <a:noFill/>
          </a:ln>
        </p:spPr>
        <p:txBody>
          <a:bodyPr anchorCtr="0" anchor="t" bIns="91425" lIns="91425" spcFirstLastPara="1" rIns="91425" wrap="square" tIns="91425">
            <a:normAutofit/>
          </a:bodyPr>
          <a:lstStyle/>
          <a:p>
            <a:pPr indent="-349250" lvl="0" marL="457200" rtl="0" algn="l">
              <a:lnSpc>
                <a:spcPct val="115000"/>
              </a:lnSpc>
              <a:spcBef>
                <a:spcPts val="1200"/>
              </a:spcBef>
              <a:spcAft>
                <a:spcPts val="0"/>
              </a:spcAft>
              <a:buSzPts val="1900"/>
              <a:buChar char="●"/>
            </a:pPr>
            <a:r>
              <a:rPr lang="en" sz="1900"/>
              <a:t>Real-time trading systems </a:t>
            </a:r>
            <a:endParaRPr sz="1900"/>
          </a:p>
          <a:p>
            <a:pPr indent="-349250" lvl="0" marL="457200" rtl="0" algn="l">
              <a:lnSpc>
                <a:spcPct val="115000"/>
              </a:lnSpc>
              <a:spcBef>
                <a:spcPts val="1200"/>
              </a:spcBef>
              <a:spcAft>
                <a:spcPts val="0"/>
              </a:spcAft>
              <a:buSzPts val="1900"/>
              <a:buChar char="●"/>
            </a:pPr>
            <a:r>
              <a:rPr lang="en" sz="1900"/>
              <a:t>highly concurrent systems</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2e0ec7b56cf_0_460"/>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Chronicle Queue</a:t>
            </a:r>
            <a:endParaRPr/>
          </a:p>
        </p:txBody>
      </p:sp>
      <p:pic>
        <p:nvPicPr>
          <p:cNvPr id="444" name="Google Shape;444;g2e0ec7b56cf_0_460"/>
          <p:cNvPicPr preferRelativeResize="0"/>
          <p:nvPr/>
        </p:nvPicPr>
        <p:blipFill>
          <a:blip r:embed="rId3">
            <a:alphaModFix/>
          </a:blip>
          <a:stretch>
            <a:fillRect/>
          </a:stretch>
        </p:blipFill>
        <p:spPr>
          <a:xfrm>
            <a:off x="4899425" y="72150"/>
            <a:ext cx="4090301" cy="2757825"/>
          </a:xfrm>
          <a:prstGeom prst="rect">
            <a:avLst/>
          </a:prstGeom>
          <a:noFill/>
          <a:ln>
            <a:noFill/>
          </a:ln>
        </p:spPr>
      </p:pic>
      <p:sp>
        <p:nvSpPr>
          <p:cNvPr id="445" name="Google Shape;445;g2e0ec7b56cf_0_460"/>
          <p:cNvSpPr txBox="1"/>
          <p:nvPr/>
        </p:nvSpPr>
        <p:spPr>
          <a:xfrm>
            <a:off x="158750" y="1111950"/>
            <a:ext cx="48243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Chronicle Queue can be considered to be similar to a low-latency, broker-less durable/persisted JVM topic. It is a distributed, unbounded, persisted queue that:</a:t>
            </a:r>
            <a:endParaRPr sz="1800">
              <a:solidFill>
                <a:schemeClr val="dk1"/>
              </a:solidFill>
              <a:latin typeface="Open Sans"/>
              <a:ea typeface="Open Sans"/>
              <a:cs typeface="Open Sans"/>
              <a:sym typeface="Open Sans"/>
            </a:endParaRPr>
          </a:p>
        </p:txBody>
      </p:sp>
      <p:sp>
        <p:nvSpPr>
          <p:cNvPr id="446" name="Google Shape;446;g2e0ec7b56cf_0_460"/>
          <p:cNvSpPr txBox="1"/>
          <p:nvPr>
            <p:ph idx="4294967295" type="body"/>
          </p:nvPr>
        </p:nvSpPr>
        <p:spPr>
          <a:xfrm>
            <a:off x="214700" y="2799675"/>
            <a:ext cx="8929200" cy="1715700"/>
          </a:xfrm>
          <a:prstGeom prst="rect">
            <a:avLst/>
          </a:prstGeom>
          <a:noFill/>
          <a:ln>
            <a:noFill/>
          </a:ln>
        </p:spPr>
        <p:txBody>
          <a:bodyPr anchorCtr="0" anchor="t" bIns="91425" lIns="91425" spcFirstLastPara="1" rIns="91425" wrap="square" tIns="91425">
            <a:normAutofit fontScale="92500"/>
          </a:bodyPr>
          <a:lstStyle/>
          <a:p>
            <a:pPr indent="-340201" lvl="0" marL="457200" rtl="0" algn="l">
              <a:lnSpc>
                <a:spcPct val="115000"/>
              </a:lnSpc>
              <a:spcBef>
                <a:spcPts val="1200"/>
              </a:spcBef>
              <a:spcAft>
                <a:spcPts val="0"/>
              </a:spcAft>
              <a:buSzPct val="100000"/>
              <a:buChar char="●"/>
            </a:pPr>
            <a:r>
              <a:rPr lang="en" sz="1900"/>
              <a:t>Supports asynchronous RMI and pub/sub interfaces with microsecond latencies</a:t>
            </a:r>
            <a:endParaRPr sz="1900"/>
          </a:p>
          <a:p>
            <a:pPr indent="-340201" lvl="0" marL="457200" rtl="0" algn="l">
              <a:lnSpc>
                <a:spcPct val="115000"/>
              </a:lnSpc>
              <a:spcBef>
                <a:spcPts val="1200"/>
              </a:spcBef>
              <a:spcAft>
                <a:spcPts val="0"/>
              </a:spcAft>
              <a:buSzPct val="100000"/>
              <a:buChar char="●"/>
            </a:pPr>
            <a:r>
              <a:rPr lang="en" sz="1900"/>
              <a:t>Passes messages between JVMs in under 1 µs*</a:t>
            </a:r>
            <a:endParaRPr sz="1900"/>
          </a:p>
          <a:p>
            <a:pPr indent="-340201" lvl="0" marL="457200" rtl="0" algn="l">
              <a:lnSpc>
                <a:spcPct val="115000"/>
              </a:lnSpc>
              <a:spcBef>
                <a:spcPts val="1200"/>
              </a:spcBef>
              <a:spcAft>
                <a:spcPts val="0"/>
              </a:spcAft>
              <a:buSzPct val="100000"/>
              <a:buChar char="●"/>
            </a:pPr>
            <a:r>
              <a:rPr lang="en" sz="1900"/>
              <a:t>Provides stable, soft, real-time latencies into the millions of messages/s for a single thread to one queue</a:t>
            </a:r>
            <a:endParaRPr sz="19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2e0ec7b56cf_0_448"/>
          <p:cNvSpPr txBox="1"/>
          <p:nvPr>
            <p:ph type="title"/>
          </p:nvPr>
        </p:nvSpPr>
        <p:spPr>
          <a:xfrm>
            <a:off x="773700" y="607025"/>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Is Java a good choice for low latency programing ?</a:t>
            </a:r>
            <a:endParaRPr/>
          </a:p>
        </p:txBody>
      </p:sp>
      <p:pic>
        <p:nvPicPr>
          <p:cNvPr id="452" name="Google Shape;452;g2e0ec7b56cf_0_448"/>
          <p:cNvPicPr preferRelativeResize="0"/>
          <p:nvPr/>
        </p:nvPicPr>
        <p:blipFill>
          <a:blip r:embed="rId3">
            <a:alphaModFix/>
          </a:blip>
          <a:stretch>
            <a:fillRect/>
          </a:stretch>
        </p:blipFill>
        <p:spPr>
          <a:xfrm>
            <a:off x="681575" y="2016625"/>
            <a:ext cx="3448567" cy="2586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2e0ec7b56cf_0_431"/>
          <p:cNvSpPr txBox="1"/>
          <p:nvPr>
            <p:ph type="title"/>
          </p:nvPr>
        </p:nvSpPr>
        <p:spPr>
          <a:xfrm>
            <a:off x="311700" y="236550"/>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25000"/>
              </a:lnSpc>
              <a:spcBef>
                <a:spcPts val="1800"/>
              </a:spcBef>
              <a:spcAft>
                <a:spcPts val="1200"/>
              </a:spcAft>
              <a:buSzPts val="1100"/>
              <a:buNone/>
            </a:pPr>
            <a:r>
              <a:rPr lang="en"/>
              <a:t>Resources:</a:t>
            </a:r>
            <a:endParaRPr/>
          </a:p>
        </p:txBody>
      </p:sp>
      <p:sp>
        <p:nvSpPr>
          <p:cNvPr id="458" name="Google Shape;458;g2e0ec7b56cf_0_431"/>
          <p:cNvSpPr txBox="1"/>
          <p:nvPr>
            <p:ph idx="4294967295" type="body"/>
          </p:nvPr>
        </p:nvSpPr>
        <p:spPr>
          <a:xfrm>
            <a:off x="82375" y="1000525"/>
            <a:ext cx="9190800" cy="2943600"/>
          </a:xfrm>
          <a:prstGeom prst="rect">
            <a:avLst/>
          </a:prstGeom>
          <a:noFill/>
          <a:ln>
            <a:noFill/>
          </a:ln>
        </p:spPr>
        <p:txBody>
          <a:bodyPr anchorCtr="0" anchor="t" bIns="91425" lIns="91425" spcFirstLastPara="1" rIns="91425" wrap="square" tIns="91425">
            <a:normAutofit fontScale="70000" lnSpcReduction="10000"/>
          </a:bodyPr>
          <a:lstStyle/>
          <a:p>
            <a:pPr indent="-313055" lvl="0" marL="457200" rtl="0" algn="l">
              <a:lnSpc>
                <a:spcPct val="115000"/>
              </a:lnSpc>
              <a:spcBef>
                <a:spcPts val="1200"/>
              </a:spcBef>
              <a:spcAft>
                <a:spcPts val="0"/>
              </a:spcAft>
              <a:buSzPct val="100000"/>
              <a:buChar char="●"/>
            </a:pPr>
            <a:r>
              <a:rPr lang="en" sz="1900"/>
              <a:t>https://www.oreilly.com/library/view/java-performance-2nd/9781492056102/</a:t>
            </a:r>
            <a:endParaRPr sz="1900"/>
          </a:p>
          <a:p>
            <a:pPr indent="-313055" lvl="0" marL="457200" rtl="0" algn="l">
              <a:lnSpc>
                <a:spcPct val="115000"/>
              </a:lnSpc>
              <a:spcBef>
                <a:spcPts val="1200"/>
              </a:spcBef>
              <a:spcAft>
                <a:spcPts val="0"/>
              </a:spcAft>
              <a:buSzPct val="100000"/>
              <a:buChar char="●"/>
            </a:pPr>
            <a:r>
              <a:rPr lang="en" sz="1900" u="sng">
                <a:solidFill>
                  <a:schemeClr val="hlink"/>
                </a:solidFill>
                <a:hlinkClick r:id="rId3"/>
              </a:rPr>
              <a:t>https://chronicle.software/chronicle-tune-your-cpu/</a:t>
            </a:r>
            <a:endParaRPr sz="1900"/>
          </a:p>
          <a:p>
            <a:pPr indent="-313055" lvl="0" marL="457200" rtl="0" algn="l">
              <a:lnSpc>
                <a:spcPct val="115000"/>
              </a:lnSpc>
              <a:spcBef>
                <a:spcPts val="1200"/>
              </a:spcBef>
              <a:spcAft>
                <a:spcPts val="0"/>
              </a:spcAft>
              <a:buSzPct val="100000"/>
              <a:buChar char="●"/>
            </a:pPr>
            <a:r>
              <a:rPr lang="en" sz="1900" u="sng">
                <a:solidFill>
                  <a:schemeClr val="hlink"/>
                </a:solidFill>
                <a:hlinkClick r:id="rId4"/>
              </a:rPr>
              <a:t>https://chronicle.software/chronicle-tune-your-cpu/</a:t>
            </a:r>
            <a:endParaRPr sz="1900"/>
          </a:p>
          <a:p>
            <a:pPr indent="-313055" lvl="0" marL="457200" rtl="0" algn="l">
              <a:lnSpc>
                <a:spcPct val="115000"/>
              </a:lnSpc>
              <a:spcBef>
                <a:spcPts val="1200"/>
              </a:spcBef>
              <a:spcAft>
                <a:spcPts val="0"/>
              </a:spcAft>
              <a:buSzPct val="100000"/>
              <a:buChar char="●"/>
            </a:pPr>
            <a:r>
              <a:rPr lang="en" sz="1900" u="sng">
                <a:solidFill>
                  <a:schemeClr val="hlink"/>
                </a:solidFill>
                <a:hlinkClick r:id="rId5"/>
              </a:rPr>
              <a:t>https://chronicle.software/java-is-very-fast/</a:t>
            </a:r>
            <a:endParaRPr sz="1900"/>
          </a:p>
          <a:p>
            <a:pPr indent="-313055" lvl="0" marL="457200" rtl="0" algn="l">
              <a:lnSpc>
                <a:spcPct val="115000"/>
              </a:lnSpc>
              <a:spcBef>
                <a:spcPts val="1200"/>
              </a:spcBef>
              <a:spcAft>
                <a:spcPts val="0"/>
              </a:spcAft>
              <a:buSzPct val="100000"/>
              <a:buChar char="●"/>
            </a:pPr>
            <a:r>
              <a:rPr lang="en" sz="1900" u="sng">
                <a:solidFill>
                  <a:schemeClr val="hlink"/>
                </a:solidFill>
                <a:hlinkClick r:id="rId6"/>
              </a:rPr>
              <a:t>https://blog.stackademic.com/optimizing-java-for-low-latency-applications-803e181d0add</a:t>
            </a:r>
            <a:endParaRPr sz="1900"/>
          </a:p>
          <a:p>
            <a:pPr indent="-313055" lvl="0" marL="457200" rtl="0" algn="l">
              <a:lnSpc>
                <a:spcPct val="115000"/>
              </a:lnSpc>
              <a:spcBef>
                <a:spcPts val="1200"/>
              </a:spcBef>
              <a:spcAft>
                <a:spcPts val="0"/>
              </a:spcAft>
              <a:buSzPct val="100000"/>
              <a:buChar char="●"/>
            </a:pPr>
            <a:r>
              <a:rPr lang="en" sz="1900" u="sng">
                <a:solidFill>
                  <a:schemeClr val="hlink"/>
                </a:solidFill>
                <a:hlinkClick r:id="rId7"/>
              </a:rPr>
              <a:t>https://www.youtube.com/watch?v=36t5OLLzA6c</a:t>
            </a:r>
            <a:endParaRPr sz="1900"/>
          </a:p>
          <a:p>
            <a:pPr indent="-313055" lvl="0" marL="457200" rtl="0" algn="l">
              <a:lnSpc>
                <a:spcPct val="115000"/>
              </a:lnSpc>
              <a:spcBef>
                <a:spcPts val="1200"/>
              </a:spcBef>
              <a:spcAft>
                <a:spcPts val="0"/>
              </a:spcAft>
              <a:buSzPct val="100000"/>
              <a:buChar char="●"/>
            </a:pPr>
            <a:r>
              <a:rPr lang="en" sz="1900"/>
              <a:t>https://www.youtube.com/watch?v=BD9cRbxWQx8</a:t>
            </a:r>
            <a:endParaRPr sz="1900"/>
          </a:p>
          <a:p>
            <a:pPr indent="0" lvl="0" marL="457200" rtl="0" algn="l">
              <a:lnSpc>
                <a:spcPct val="115000"/>
              </a:lnSpc>
              <a:spcBef>
                <a:spcPts val="1200"/>
              </a:spcBef>
              <a:spcAft>
                <a:spcPts val="0"/>
              </a:spcAft>
              <a:buNone/>
            </a:pPr>
            <a:r>
              <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